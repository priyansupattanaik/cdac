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1" r:id="rId14"/>
    <p:sldId id="272" r:id="rId15"/>
    <p:sldId id="277" r:id="rId16"/>
    <p:sldId id="273" r:id="rId17"/>
    <p:sldId id="274" r:id="rId18"/>
    <p:sldId id="278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88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81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06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5029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400364"/>
            <a:ext cx="5303520" cy="34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779643-2225-2948-5874-4F458F69FAB7}"/>
              </a:ext>
            </a:extLst>
          </p:cNvPr>
          <p:cNvGrpSpPr/>
          <p:nvPr/>
        </p:nvGrpSpPr>
        <p:grpSpPr>
          <a:xfrm>
            <a:off x="502920" y="1725930"/>
            <a:ext cx="5303520" cy="1691640"/>
            <a:chOff x="502920" y="1051560"/>
            <a:chExt cx="5303520" cy="1691640"/>
          </a:xfrm>
        </p:grpSpPr>
        <p:sp>
          <p:nvSpPr>
            <p:cNvPr id="9" name="Text 7"/>
            <p:cNvSpPr/>
            <p:nvPr/>
          </p:nvSpPr>
          <p:spPr>
            <a:xfrm>
              <a:off x="502920" y="1051560"/>
              <a:ext cx="53035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200" b="1" dirty="0">
                  <a:solidFill>
                    <a:srgbClr val="FFD4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Pandas &amp;</a:t>
              </a:r>
              <a:endParaRPr lang="en-US" sz="7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1920240"/>
              <a:ext cx="53035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Matplotlib</a:t>
              </a:r>
              <a:endParaRPr lang="en-US" sz="72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502920" y="42519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Volunteer Revision Session  |  Topics Covered: Pandas &amp; Matplotlib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6DFF8E1-F493-BD65-8325-B5C314202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35923"/>
            <a:ext cx="2756661" cy="4071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16CAE-51B0-F5CC-4C8E-7420B7E9F600}"/>
              </a:ext>
            </a:extLst>
          </p:cNvPr>
          <p:cNvSpPr txBox="1"/>
          <p:nvPr/>
        </p:nvSpPr>
        <p:spPr>
          <a:xfrm>
            <a:off x="459297" y="3882628"/>
            <a:ext cx="320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 Priyansu Pattanaik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What is Pandas?  —  Definition &amp; Uses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93268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93268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an open-source Python library used for data manipulation and analysis. It provides fast, flexible, and expressive data structures designed to make working with structured (tabular, labelled) data both easy and intuitive.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595360" cy="402336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2011680" cy="10972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87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Explore, summarise and understand data distributions and patterns.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2377440"/>
            <a:ext cx="2011680" cy="10972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487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56032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reshape, merge, and transform datasets easily.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77440"/>
            <a:ext cx="201168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87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 and data type inconsistencies.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2377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2377440"/>
            <a:ext cx="2011680" cy="10972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87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4944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34747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labeled rows/columns like a spreadsheet or SQL table.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Pandas — Series (1D Data Structure)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0465"/>
            <a:ext cx="8595360" cy="877824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0465"/>
            <a:ext cx="109728" cy="877824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5329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SERIES?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03073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a one-dimensional labeled array that can hold data of any type (int, float, string, etc.). It has an index on the left and values on the right — like a single column of a spreadsheet.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107119"/>
            <a:ext cx="4572000" cy="2578608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7119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07119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81439"/>
            <a:ext cx="429768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Series from a list (auto index 0,1,2...)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 pd.Series([10, 20, 30, 40, 50])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by index label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7119"/>
            <a:ext cx="3840480" cy="2578608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2107119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107119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57216" y="2381439"/>
            <a:ext cx="358444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3    40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dtype: int64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s2['a']:  100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Pandas — DataFrame (2D Data Structure)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076"/>
            <a:ext cx="8595360" cy="877824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076"/>
            <a:ext cx="109728" cy="877824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229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DATAFRAME?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60684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two-dimensional, tabular data structure with labeled rows and columns — like an Excel spreadsheet or a SQL table. Each column is a Series.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95030"/>
            <a:ext cx="5029200" cy="2834640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95030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9503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269350"/>
            <a:ext cx="47548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DataFrame from a Dictionary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{"Name":  ["Amit",  "Neha",  "Raj"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"Age":   [21,      22,      20  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"Marks": [85,      92,      78    ]}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DataFrame from list of lists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pd.DataFrame(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[["Alice", 25, "Delhi"],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["Bob",   30, "Mumbai"]],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columns=["Name", "Age", "City"])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995030"/>
            <a:ext cx="3383280" cy="2834640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995030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99503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14416" y="2269350"/>
            <a:ext cx="312724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 Age  Marks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Amit   21     85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Neha   22     92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Raj    20     78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Age    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Alice   25   Delhi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Bob   30  Mumbai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Reading &amp; Writing Data from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0467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DO?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can read data from many file formats into a DataFrame with a single function call. The most common are CSV (comma-separated) and Excel files. After analysis you can also write back to those formats.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846320" cy="2535189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91640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457200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Read from CSV ─────────────────────────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Read from Excel ────────────────────────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pd.read_excel("data.xlsx")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Write / Save ───────────────────────────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df.to_csv("output.csv")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df.to_excel("output.xlsx")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57800" y="1691640"/>
            <a:ext cx="3566160" cy="2535189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1691640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6916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31536" y="1965960"/>
            <a:ext cx="331012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pd.read_csv("data.csv"):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 Age  Salary      City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Alice   25   50000  New York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Bob   30   60000  London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Charlie 35  70000   Paris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David   40   80000  Tokyo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Eva   45   90000  Berlin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440413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398083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CSV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4398083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440413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4398083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Excel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398083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read_excel()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40413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398083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JSON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4398083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read_json()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440413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4398083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🛢️ 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4398083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read_sql()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Data Exploration Methods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0467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analysing data, you must explore it. These methods give a quick overview of size, data types, statistics, and missing values — they help you understand what your dataset looks like.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4114800" cy="2304954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0992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84248"/>
            <a:ext cx="384048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# First 5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df.tail(3)      # Last 3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# Data types + non-null 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# Mean, std, min, max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# Returns (rows, columns)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     # Returns column name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       # Data type of each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# Count missing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09928"/>
            <a:ext cx="4297680" cy="2304954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709928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099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1984248"/>
            <a:ext cx="40416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→  (5, 4)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Index(['Name', 'Age', 'Salary', 'City'])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Age    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 5.00      5.00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 35.00  70000.00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   7.91  15811.39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 25.00  50000.00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  45.00  90000.00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221256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4239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49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preview, first rows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4221256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78608" y="4239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6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449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null counts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221256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73168" y="4239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449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summary (numeric)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4221256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67728" y="4239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67728" y="449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(rows, cols) tuple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Data Selection — Columns, loc &amp; iloc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229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selection lets you extract specific rows, columns, or individual cells from a DataFrame.  loc uses label-based indexing (index name/label).  iloc uses integer position-based indexing (0, 1, 2 ...).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5029200" cy="2647188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19072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475488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Select ONE column 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df["Name"]               # Returns a Series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Select MULTIPLE columns 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df[["Name", "Salary"]]   # Returns DataFrame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loc  →  by index LABEL 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df.loc[0]        # Row where index label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df.loc[2, "Name"]        # Row 2, column Name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iloc →  by integer POSITION 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       # First row (position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df.iloc[0, 1]    # Row 0, Column at position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719072"/>
            <a:ext cx="3383280" cy="2647188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719072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719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14416" y="1993392"/>
            <a:ext cx="312724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df["Name"]: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Alice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Bob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Charlie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df.loc[2, "Name"]  →  'Charlie'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Alice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 25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   50000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  New York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0, dtype: object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454943"/>
            <a:ext cx="4160520" cy="512064"/>
          </a:xfrm>
          <a:prstGeom prst="rect">
            <a:avLst/>
          </a:prstGeom>
          <a:solidFill>
            <a:srgbClr val="EBF4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464087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 — uses the INDEX LABEL (could be 'a', 'b' or 0,1,2)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4454943"/>
            <a:ext cx="4206240" cy="512064"/>
          </a:xfrm>
          <a:prstGeom prst="rect">
            <a:avLst/>
          </a:prstGeom>
          <a:solidFill>
            <a:srgbClr val="FFF6ED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4464087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— always uses the POSITION number (0, 1, 2 ...)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Data Filtering — Boolean Conditions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229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BOOLEAN FILTERING?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returns only the rows that satisfy a condition. A boolean condition returns True/False for each row, and Pandas keeps only the True rows. Multiple conditions can be combined using &amp; (AND) or | (OR).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5029200" cy="2852928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19072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4754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Single condition 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df[df["Salary"] &gt; 60000]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AND condition  (&amp;) 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df[(df["Salary"] &gt; 60000) &amp; (df["Age"] &lt; 40)]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OR condition  (|) 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df[(df["City"] == "London") | (df["Age"] &lt; 30)]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719072"/>
            <a:ext cx="3383280" cy="2852928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719072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719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14416" y="1993392"/>
            <a:ext cx="31272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df[df["Salary"] &gt; 60000]: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Age  Salary    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Charlie   35   70000   Paris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David   40   80000   Tokyo</a:t>
            </a:r>
            <a:endParaRPr lang="en-US" sz="1000" dirty="0"/>
          </a:p>
          <a:p>
            <a:pPr marL="228600" indent="-228600">
              <a:buAutoNum type="arabicPlain" startAt="4"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   45   90000  Berlin</a:t>
            </a:r>
          </a:p>
          <a:p>
            <a:r>
              <a:rPr lang="en-US" sz="1000" dirty="0">
                <a:solidFill>
                  <a:srgbClr val="7DD3A8"/>
                </a:solidFill>
                <a:latin typeface="Consolas" pitchFamily="34" charset="0"/>
              </a:rPr>
              <a:t>5   Rahul    25   100000  London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df[(Salary&gt;60000) &amp; (Age&lt;40)]: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 Age  Salary   City</a:t>
            </a:r>
            <a:endParaRPr lang="en-US" sz="1000" dirty="0"/>
          </a:p>
          <a:p>
            <a:pPr marL="228600" indent="-228600">
              <a:buAutoNum type="arabicPlain" startAt="2"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Charlie   35   70000  Paris</a:t>
            </a:r>
          </a:p>
          <a:p>
            <a:r>
              <a:rPr lang="en-US" sz="1000" dirty="0">
                <a:solidFill>
                  <a:srgbClr val="7DD3A8"/>
                </a:solidFill>
                <a:latin typeface="Consolas" pitchFamily="34" charset="0"/>
              </a:rPr>
              <a:t>5   Rahul    25   100000  London</a:t>
            </a:r>
            <a:endParaRPr lang="en-US" sz="1000" dirty="0">
              <a:solidFill>
                <a:srgbClr val="7DD3A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228600" indent="-228600">
              <a:buAutoNum type="arabicPlain" startAt="2"/>
            </a:pPr>
            <a:endParaRPr lang="en-US" sz="1000" dirty="0">
              <a:solidFill>
                <a:srgbClr val="7DD3A8"/>
              </a:solidFill>
              <a:latin typeface="Consolas" pitchFamily="34" charset="0"/>
            </a:endParaRPr>
          </a:p>
          <a:p>
            <a:r>
              <a:rPr lang="en-US" sz="1000" dirty="0" err="1">
                <a:solidFill>
                  <a:srgbClr val="7DD3A8"/>
                </a:solidFill>
                <a:latin typeface="Consolas" pitchFamily="34" charset="0"/>
              </a:rPr>
              <a:t>df</a:t>
            </a:r>
            <a:r>
              <a:rPr lang="en-US" sz="1000" dirty="0">
                <a:solidFill>
                  <a:srgbClr val="7DD3A8"/>
                </a:solidFill>
                <a:latin typeface="Consolas" pitchFamily="34" charset="0"/>
              </a:rPr>
              <a:t>[(City == London) | (Age &lt; 30)]</a:t>
            </a:r>
          </a:p>
          <a:p>
            <a:r>
              <a:rPr lang="en-US" sz="1000" dirty="0">
                <a:solidFill>
                  <a:srgbClr val="7DD3A8"/>
                </a:solidFill>
                <a:latin typeface="Consolas" pitchFamily="34" charset="0"/>
              </a:rPr>
              <a:t>      Name  Age  Salary   City</a:t>
            </a:r>
          </a:p>
          <a:p>
            <a:r>
              <a:rPr lang="en-US" sz="1000" dirty="0">
                <a:solidFill>
                  <a:srgbClr val="7DD3A8"/>
                </a:solidFill>
                <a:latin typeface="Consolas" pitchFamily="34" charset="0"/>
              </a:rPr>
              <a:t>5    Rahul    25   100000  London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677971"/>
            <a:ext cx="8595360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677971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 &amp; → AND   |  | → OR   |  ~ → NOT   |  Always wrap each condition in ( ) brackets!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Adding, Modifying &amp; Deleting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91440" cy="71323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loading a dataset you often need to add new calculated columns, update existing values, or remove columns/rows that are not needed. Pandas makes all three operations simple.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570640"/>
            <a:ext cx="5029200" cy="2944368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0640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0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844960"/>
            <a:ext cx="47548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ADD a new column 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df["Dept"] = ["HR","EDU"]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MODIFY an existing column 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df["Salary"] = df["Salary"] + 5000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RENAME a column ───────────────────────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df.rename(columns={"Salary":"Pay"},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inplace=True)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DELETE a column  (axis=1) 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df.drop("Dept", axis=1, inplace=True)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DELETE a row  (axis=0) ────────────────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df.drop(0, axis=0, inplace=True)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570640"/>
            <a:ext cx="3383280" cy="2944368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578720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5706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14416" y="1844960"/>
            <a:ext cx="312724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adding Dept column: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 Age   Salary Dept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Alice   25   50000   HR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Bob   30   60000  EDU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Salary + 5000: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  Salary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Alice   55000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Bob   65000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drop("Dept"):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  Age  Salary      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605790"/>
            <a:ext cx="8595360" cy="237744"/>
          </a:xfrm>
          <a:prstGeom prst="rect">
            <a:avLst/>
          </a:prstGeom>
          <a:solidFill>
            <a:srgbClr val="FFF8E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60579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inplace=True → changes the original df directly  |  axis=1 → column  |  axis=0 → row  |  Without inplace, assign result back to df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Handling Missing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16680"/>
            <a:ext cx="8595360" cy="65836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28792"/>
            <a:ext cx="109728" cy="8229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59437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DATA?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97181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are rarely complete. Missing values appear as NaN (Not a Number) in Pandas. You must detect them, then decide to drop those rows or fill them with a sensible value like mean/median.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49535"/>
            <a:ext cx="5029200" cy="3057972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49535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9535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723855"/>
            <a:ext cx="47548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{"Month":   ["Jan","Feb","Jan","Feb", None],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"Product": ["A",   None, "A",  None,  "B"],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"Sales":   [1000,  None, 3000, None, 5000]}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Detect missing values 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print(df.isnull())          # Boolean mask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    # Count per column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Drop rows with ANY NaN 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df.dropna(inplace=True)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Fill with mean / constant 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df["Sales"].fillna(df["Sales"].mean(),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inplace=True)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df["Month"].fillna("Unknown", inplace=True)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df["Product"].fillna("Other", inplace=True)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413199"/>
            <a:ext cx="3383280" cy="3094308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424646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413199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14416" y="1687519"/>
            <a:ext cx="312724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    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  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    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dtype: int64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fillna():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Month Product    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Jan       A   1000.0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Feb   Other   3000.0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Jan       A   3000.0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Feb   Other   3000.0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Unknown       B   5000.0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643332"/>
            <a:ext cx="2697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6433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  –  Returns True where NaN exists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4643332"/>
            <a:ext cx="2697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46433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 –  Removes rows containing NaN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4643332"/>
            <a:ext cx="2697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6433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 –  Fills NaN with given value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Sorting &amp; GroupBy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2296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sort_values() arranges rows in ascending or descending order by one or more columns.  groupby() splits the DataFrame into groups based on a column, letting you compute aggregates (sum, mean, count) per group.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5984"/>
            <a:ext cx="5029200" cy="3291840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0992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984248"/>
            <a:ext cx="47548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{"Department": ["HR","IT","HR","IT","HR","IT"],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"Salary": [50000,40000,30000,60000,45000,90000]}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SORT by Salary descending 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df.sort_values("Salary", ascending=False)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GROUPBY Department → mean salary 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df.groupby("Department")["Salary"].mean()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GROUPBY with multiple aggregations 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df.groupby("Department")["Salary"].agg(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["sum", "mean", "count"])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1709928"/>
            <a:ext cx="3383280" cy="3291840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709928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7099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14416" y="1984248"/>
            <a:ext cx="312724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 (descending):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Dept  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IT   90000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IT   60000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HR   50000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HR   45000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 mean: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   41666.67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   63333.33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sum      mean  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       125000  41666.67     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       190000  63333.33     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Merging DataFrames — pd.merge()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65836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18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MERGING?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395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pd.merge() combines two DataFrames based on a common column (key), exactly like a SQL JOIN. The default is an inner join (keeps only matching rows). You can also do left, right, and outer joins.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40247"/>
            <a:ext cx="5029200" cy="2662179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40247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4630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814567"/>
            <a:ext cx="47548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df_left  = pd.DataFrame({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  [1, 2, 3, 4, 5],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["Alice","Bob","Charlie","Dave","Eva"]})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df_right = pd.DataFrame({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    [1, 2, 3, 4, 5],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"Salary": [10000,20000,30000,40000,50000]})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Inner Join (default) – only matching rows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pd.merge(df_left, df_right, on="ID"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1540247"/>
            <a:ext cx="3383280" cy="2662179"/>
          </a:xfrm>
          <a:prstGeom prst="rect">
            <a:avLst/>
          </a:prstGeom>
          <a:solidFill>
            <a:srgbClr val="0C1F12"/>
          </a:solidFill>
          <a:ln w="12700">
            <a:solidFill>
              <a:srgbClr val="1E5C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546299"/>
            <a:ext cx="96012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540247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14416" y="1814567"/>
            <a:ext cx="312724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(inner join):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ID     Name  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1    Alice   10000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2      Bob   20000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3  Charlie   30000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4     Dave   40000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5      Eva   50000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347153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47153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" y="4347153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match in BOTH DataFrames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4347153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347153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4347153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left + matches from right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347153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347153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4347153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right + matches from left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347153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347153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4347153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BOTH, NaN where no match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What is Matplotlib?  —  Definition &amp;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412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4124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is an open-source Python library for creating static, animated, and interactive 2D visualisations. It provides a MATLAB-like interface through pyplot. Every plot requires: import matplotlib.pyplot as plt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411480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       # Every matplotlib script starts with this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2743200" cy="9144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2688" y="23957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70662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9443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trends over time or sequence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286000"/>
            <a:ext cx="2743200" cy="914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58768" y="23957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58768" y="270662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8768" y="29443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values across categories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286000"/>
            <a:ext cx="27432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84848" y="23957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70662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84848" y="29443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data frequency distribution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274320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9417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32688" y="3712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" y="40233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4261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relationship between 2 variables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3602736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602736"/>
            <a:ext cx="274320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69417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🥧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858768" y="3712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58768" y="40233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58768" y="4261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proportions of a whole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602736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602736"/>
            <a:ext cx="274320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69417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⬛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784848" y="37124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84848" y="402336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plt.subplot()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84848" y="4261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plots in one figure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Matplotlib — Line Plot  plt.plot()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04568"/>
            <a:ext cx="8595360" cy="65836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04568"/>
            <a:ext cx="109728" cy="65836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59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LINE PLOT?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9717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plot connects data points with a line. It is best used to show trends over time, sequences, or continuous data. Customisable with colour, linestyle, markers, labels, and legends.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46444"/>
            <a:ext cx="5029200" cy="3491316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46444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15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739648"/>
            <a:ext cx="4754880" cy="31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[1, 2, 3, 4, 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[10, 20, 30, 40, 50]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 = [100, 200, 300, 400, 500]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plt.figure(figsize=(8, 5))   # canvas size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Basic line ─────────────────────────────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y1, color='red',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linestyle='--', marker='*',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label='Product B')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Second line ────────────────────────────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y2, color='blue',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linestyle='-',  marker='o',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label='Product A')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plt.title("Sales Comparison")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plt.xlabel("Month")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plt.ylabel("Sales")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32120" y="15071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1891172"/>
            <a:ext cx="3337560" cy="41148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8911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18911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'red', 'blue', '#FF5733'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2366660"/>
            <a:ext cx="3337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3666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linestyle=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0" y="23666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'-'  '--'  '-.'  ':'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2842148"/>
            <a:ext cx="3337560" cy="41148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8421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marker=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0" y="28421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'o'  '*'  's'  '^'  '+'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32120" y="3317636"/>
            <a:ext cx="3337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3176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label=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33176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shown in legend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3793124"/>
            <a:ext cx="3337560" cy="41148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37931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069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linewidth=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37931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of line (e.g. 2)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937760"/>
            <a:ext cx="8595360" cy="237744"/>
          </a:xfrm>
          <a:prstGeom prst="rect">
            <a:avLst/>
          </a:prstGeom>
          <a:solidFill>
            <a:srgbClr val="FFF8E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9438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plt.legend() shows labels  |  plt.figure(figsize=(w,h)) sets size in inches  |  plt.show() renders the plot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Matplotlib — Line Plot  plt.plot()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" y="5340096"/>
            <a:ext cx="8595360" cy="237744"/>
          </a:xfrm>
          <a:prstGeom prst="rect">
            <a:avLst/>
          </a:prstGeom>
          <a:solidFill>
            <a:srgbClr val="FFF8E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5340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plt.legend() shows labels  |  plt.figure(figsize=(w,h)) sets size in inches  |  plt.show() renders the plot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819C196-10DF-B1BC-6FD3-9A4AE312D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809" y="938622"/>
            <a:ext cx="5506381" cy="37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6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Matplotlib — Bar Chart  plt.bar() / plt.barh()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98512"/>
            <a:ext cx="109728" cy="65836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291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BAR CHART?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6689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compare values across different categories using rectangular bars. plt.bar() draws vertical bars, plt.barh() draws horizontal bars. plt.subplot() lets you place both side by side in one figure.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28272"/>
            <a:ext cx="3861675" cy="3652401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509242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= ["A", "B", "C", "D", "E"]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    = [110, 120, 130, 140, 150]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plt.figure(figsize=(10, 4))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Vertical Bar ───────────────────────────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plt.subplot(1, 2, 1)        # 1 row, 2 cols, plot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plt.bar(categories, values, color='skyblue',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edgecolor='black')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plt.title("Vertical Bar Chart")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plt.xlabel("Categories")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plt.ylabel("Values")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Horizontal Bar ─────────────────────────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plt.subplot(1, 2, 2)        # 1 row, 2 cols, plot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plt.barh(categories, values, color='lightgreen',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edgecolor='black')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plt.title("Horizontal Bar Chart")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plt.xlabel("Values")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plt.ylabel("Categories")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           # prevent overlap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DCFD8B-99B0-3F30-B714-014810456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618" y="2195249"/>
            <a:ext cx="4797548" cy="18918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Matplotlib — Histogram &amp; Scatter Plot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8412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4124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plt.hist()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frequently values fall within ranges (bins). Used for continuous data to understand distribution — e.g., are values evenly spread or skewed to one side?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8412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109728" cy="84124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plt.scatter()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069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individual data points as dots on x-y axes. Best for finding the relationship or correlation between two continuous numeric variables.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4206240" cy="2743200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5564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2029968"/>
            <a:ext cx="3931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[110,120,130,140,150,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110,130,150,120,140]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plt.figure(figsize=(7, 4))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bins=5,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color='orange',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edgecolor='black')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plt.title("Histogram")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plt.xlabel("Value Range")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plt.ylabel("Frequency")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755648"/>
            <a:ext cx="4206240" cy="2743200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75564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PLOT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00600" y="2029968"/>
            <a:ext cx="3931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[10, 220, 130, 40, 150]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[110, 120, 130, 140, 150]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plt.figure(figsize=(7, 4))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color='purple',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s=100,       # marker size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alpha=0.7)   # transparency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plt.title("Scatter Plot")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plt.xlabel("X Values")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plt.ylabel("Y Values")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Matplotlib — Histogram &amp; Scatter Plot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8412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4124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plt.hist()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frequently values fall within ranges (bins). Used for continuous data to understand distribution — e.g., are values evenly spread or skewed to one side?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8412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109728" cy="84124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plt.scatter()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069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individual data points as dots on x-y axes. Best for finding the relationship or correlation between two continuous numeric variables.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175564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PLOT</a:t>
            </a:r>
            <a:endParaRPr lang="en-US" sz="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C73CDD-429C-9E09-BD60-A89CC7518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12264"/>
            <a:ext cx="4136209" cy="26002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7E76AE-9EE3-637B-C440-8DD6246A9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12264"/>
            <a:ext cx="4114800" cy="260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33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Matplotlib — Pie Chart &amp; Subplots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8412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841248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2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plt.pie()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data as proportional slices of a circle. Each slice shows the percentage share of a category. Best for showing part-to-whole relationships with a small number of categories.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4206240" cy="2926080"/>
          </a:xfrm>
          <a:prstGeom prst="rect">
            <a:avLst/>
          </a:prstGeom>
          <a:solidFill>
            <a:srgbClr val="1B2333"/>
          </a:solidFill>
          <a:ln w="12700">
            <a:solidFill>
              <a:srgbClr val="2D3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55648"/>
            <a:ext cx="1188720" cy="219456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556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 CHART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2029968"/>
            <a:ext cx="39319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  = [10, 220, 130, 40, 150]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["A", "B", "C", "D", "E"]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plt.figure(figsize=(7, 7))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plt.pie(sizes,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labels=labels,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autopct='%1.1f%%', # show %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colors=['#FF6B6B','#4ECDC4',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'#45B7D1','#96CEB4',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'#FFEAA7'])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plt.title("Category Share")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65ECBC-0DBD-A838-940D-2EE395DD8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665" y="1793285"/>
            <a:ext cx="2505354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7DEB5F-9EBD-E919-82F4-54CCBE70327F}"/>
              </a:ext>
            </a:extLst>
          </p:cNvPr>
          <p:cNvSpPr txBox="1"/>
          <p:nvPr/>
        </p:nvSpPr>
        <p:spPr>
          <a:xfrm>
            <a:off x="2282972" y="2110085"/>
            <a:ext cx="4578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r>
              <a:rPr lang="en-US" sz="5400" b="1" dirty="0">
                <a:solidFill>
                  <a:srgbClr val="1A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3367</Words>
  <Application>Microsoft Office PowerPoint</Application>
  <PresentationFormat>On-screen Show (16:9)</PresentationFormat>
  <Paragraphs>515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Pandas &amp; Matplotlib</dc:title>
  <dc:subject>PptxGenJS Presentation</dc:subject>
  <dc:creator>PptxGenJS</dc:creator>
  <cp:lastModifiedBy>BRUCE WAYNE</cp:lastModifiedBy>
  <cp:revision>11</cp:revision>
  <dcterms:created xsi:type="dcterms:W3CDTF">2026-03-20T15:25:07Z</dcterms:created>
  <dcterms:modified xsi:type="dcterms:W3CDTF">2026-03-21T04:24:24Z</dcterms:modified>
</cp:coreProperties>
</file>