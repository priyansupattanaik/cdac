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48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0" y="6143625"/>
            <a:ext cx="9144000" cy="101600"/>
          </a:xfrm>
          <a:custGeom>
            <a:avLst/>
            <a:gdLst/>
            <a:ahLst/>
            <a:cxnLst/>
            <a:rect l="l" t="t" r="r" b="b"/>
            <a:pathLst>
              <a:path w="9144000" h="101600">
                <a:moveTo>
                  <a:pt x="9143998" y="0"/>
                </a:moveTo>
                <a:lnTo>
                  <a:pt x="0" y="0"/>
                </a:lnTo>
                <a:lnTo>
                  <a:pt x="0" y="101600"/>
                </a:lnTo>
                <a:lnTo>
                  <a:pt x="9143998" y="101600"/>
                </a:lnTo>
                <a:lnTo>
                  <a:pt x="9143998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4531" y="2920491"/>
            <a:ext cx="82629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5151" y="649616"/>
            <a:ext cx="11779885" cy="45720"/>
          </a:xfrm>
          <a:custGeom>
            <a:avLst/>
            <a:gdLst/>
            <a:ahLst/>
            <a:cxnLst/>
            <a:rect l="l" t="t" r="r" b="b"/>
            <a:pathLst>
              <a:path w="11779885" h="45720">
                <a:moveTo>
                  <a:pt x="11779622" y="0"/>
                </a:moveTo>
                <a:lnTo>
                  <a:pt x="0" y="0"/>
                </a:lnTo>
                <a:lnTo>
                  <a:pt x="0" y="45720"/>
                </a:lnTo>
                <a:lnTo>
                  <a:pt x="11779622" y="45720"/>
                </a:lnTo>
                <a:lnTo>
                  <a:pt x="11779622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6082" y="115315"/>
            <a:ext cx="511983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3891" y="2347468"/>
            <a:ext cx="9543415" cy="2454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racle.com/in/java/technologies/download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964531" y="2920491"/>
            <a:ext cx="8262937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</a:t>
            </a:r>
            <a:r>
              <a:rPr spc="10" dirty="0"/>
              <a:t> </a:t>
            </a:r>
            <a:r>
              <a:rPr spc="-5" dirty="0"/>
              <a:t>Oriented</a:t>
            </a:r>
            <a:r>
              <a:rPr dirty="0"/>
              <a:t> </a:t>
            </a:r>
            <a:r>
              <a:rPr spc="-5"/>
              <a:t>Programming</a:t>
            </a:r>
            <a:r>
              <a:rPr spc="5"/>
              <a:t> </a:t>
            </a:r>
            <a:r>
              <a:rPr lang="en-US" spc="5" dirty="0" smtClean="0"/>
              <a:t>Using</a:t>
            </a:r>
            <a:r>
              <a:rPr smtClean="0"/>
              <a:t> </a:t>
            </a:r>
            <a:r>
              <a:rPr spc="-5" smtClean="0"/>
              <a:t>Java</a:t>
            </a:r>
            <a:r>
              <a:rPr lang="en-US" spc="-5" dirty="0" smtClean="0"/>
              <a:t> 1.8 (Spider)</a:t>
            </a: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9864" y="115315"/>
            <a:ext cx="2871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Evaluation</a:t>
            </a:r>
            <a:r>
              <a:rPr spc="-55" dirty="0"/>
              <a:t> </a:t>
            </a:r>
            <a:r>
              <a:rPr spc="-5" dirty="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383" y="747268"/>
            <a:ext cx="2087880" cy="22631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Duration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Evaluation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9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Theory</a:t>
            </a:r>
            <a:r>
              <a:rPr sz="1600" b="1" spc="-6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Exam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Lab</a:t>
            </a:r>
            <a:r>
              <a:rPr sz="1600" b="1" spc="-6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Exam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Internals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Reference</a:t>
            </a:r>
            <a:r>
              <a:rPr sz="1600" spc="-9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Books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6583" y="884428"/>
            <a:ext cx="63811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>
                <a:latin typeface="Courier New"/>
                <a:cs typeface="Courier New"/>
              </a:rPr>
              <a:t>:</a:t>
            </a:r>
            <a:r>
              <a:rPr sz="1600" b="1" spc="-10">
                <a:latin typeface="Courier New"/>
                <a:cs typeface="Courier New"/>
              </a:rPr>
              <a:t> </a:t>
            </a:r>
            <a:r>
              <a:rPr lang="en-US" sz="1600" b="1" spc="-10" dirty="0" smtClean="0">
                <a:latin typeface="Courier New"/>
                <a:cs typeface="Courier New"/>
              </a:rPr>
              <a:t>90</a:t>
            </a:r>
            <a:r>
              <a:rPr sz="1600" spc="-10" smtClean="0">
                <a:latin typeface="Courier New"/>
                <a:cs typeface="Courier New"/>
              </a:rPr>
              <a:t> </a:t>
            </a:r>
            <a:r>
              <a:rPr sz="1600" smtClean="0">
                <a:latin typeface="Courier New"/>
                <a:cs typeface="Courier New"/>
              </a:rPr>
              <a:t>Hours(4</a:t>
            </a:r>
            <a:r>
              <a:rPr lang="en-US" sz="1600" dirty="0" smtClean="0">
                <a:latin typeface="Courier New"/>
                <a:cs typeface="Courier New"/>
              </a:rPr>
              <a:t>6</a:t>
            </a:r>
            <a:r>
              <a:rPr sz="1600" spc="-10" smtClean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Theory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+</a:t>
            </a:r>
            <a:r>
              <a:rPr sz="1600" spc="-5">
                <a:latin typeface="Courier New"/>
                <a:cs typeface="Courier New"/>
              </a:rPr>
              <a:t> </a:t>
            </a:r>
            <a:r>
              <a:rPr sz="1600" smtClean="0">
                <a:latin typeface="Courier New"/>
                <a:cs typeface="Courier New"/>
              </a:rPr>
              <a:t>4</a:t>
            </a:r>
            <a:r>
              <a:rPr lang="en-US" sz="1600" dirty="0" smtClean="0">
                <a:latin typeface="Courier New"/>
                <a:cs typeface="Courier New"/>
              </a:rPr>
              <a:t>4</a:t>
            </a:r>
            <a:r>
              <a:rPr sz="1600" spc="-10" smtClean="0">
                <a:latin typeface="Courier New"/>
                <a:cs typeface="Courier New"/>
              </a:rPr>
              <a:t> </a:t>
            </a:r>
            <a:r>
              <a:rPr sz="1600" smtClean="0">
                <a:latin typeface="Courier New"/>
                <a:cs typeface="Courier New"/>
              </a:rPr>
              <a:t>Lab)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6583" y="1140460"/>
            <a:ext cx="3332817" cy="1882567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Total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100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marks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40</a:t>
            </a:r>
            <a:r>
              <a:rPr sz="1600" smtClean="0">
                <a:latin typeface="Courier New"/>
                <a:cs typeface="Courier New"/>
              </a:rPr>
              <a:t>%</a:t>
            </a:r>
            <a:r>
              <a:rPr lang="en-US" sz="1600" dirty="0" smtClean="0">
                <a:latin typeface="Courier New"/>
                <a:cs typeface="Courier New"/>
              </a:rPr>
              <a:t> (CCEE)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40</a:t>
            </a:r>
            <a:r>
              <a:rPr sz="1600" smtClean="0">
                <a:latin typeface="Courier New"/>
                <a:cs typeface="Courier New"/>
              </a:rPr>
              <a:t>%</a:t>
            </a:r>
            <a:r>
              <a:rPr lang="en-US" sz="1600" dirty="0" smtClean="0">
                <a:latin typeface="Courier New"/>
                <a:cs typeface="Courier New"/>
              </a:rPr>
              <a:t> (End-Module Exam)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ourier New"/>
                <a:cs typeface="Courier New"/>
              </a:rPr>
              <a:t>: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20</a:t>
            </a:r>
            <a:r>
              <a:rPr sz="1600" smtClean="0">
                <a:latin typeface="Courier New"/>
                <a:cs typeface="Courier New"/>
              </a:rPr>
              <a:t>%</a:t>
            </a:r>
            <a:r>
              <a:rPr lang="en-US" sz="1600" dirty="0" smtClean="0">
                <a:latin typeface="Courier New"/>
                <a:cs typeface="Courier New"/>
              </a:rPr>
              <a:t> 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ourier New"/>
                <a:cs typeface="Courier New"/>
              </a:rPr>
              <a:t>: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91533" y="3120358"/>
          <a:ext cx="7243445" cy="812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0185"/>
                <a:gridCol w="3422650"/>
                <a:gridCol w="1070610"/>
              </a:tblGrid>
              <a:tr h="253999">
                <a:tc>
                  <a:txBody>
                    <a:bodyPr/>
                    <a:lstStyle/>
                    <a:p>
                      <a:pPr marL="31750">
                        <a:lnSpc>
                          <a:spcPts val="1525"/>
                        </a:lnSpc>
                        <a:tabLst>
                          <a:tab pos="488315" algn="l"/>
                        </a:tabLst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1.	Java,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Complete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525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Reference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–</a:t>
                      </a:r>
                      <a:r>
                        <a:rPr sz="16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Herbert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Schildt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88315" algn="l"/>
                        </a:tabLst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2.	Core</a:t>
                      </a:r>
                      <a:r>
                        <a:rPr sz="16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Java</a:t>
                      </a:r>
                      <a:r>
                        <a:rPr sz="16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Volume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I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II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–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Cay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S.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Horstmann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53999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  <a:spcBef>
                          <a:spcPts val="5"/>
                        </a:spcBef>
                        <a:tabLst>
                          <a:tab pos="488315" algn="l"/>
                        </a:tabLst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3.	Java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Programming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Black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Book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–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D.T.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Editorial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Services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35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53383" y="3847083"/>
            <a:ext cx="3873500" cy="76327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85"/>
              </a:spcBef>
              <a:tabLst>
                <a:tab pos="926465" algn="l"/>
              </a:tabLst>
            </a:pPr>
            <a:r>
              <a:rPr sz="1600" dirty="0">
                <a:latin typeface="Courier New"/>
                <a:cs typeface="Courier New"/>
              </a:rPr>
              <a:t>4.	Object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Oriented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Analysis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980"/>
              </a:spcBef>
              <a:buFont typeface="Arial MT"/>
              <a:buChar char="•"/>
              <a:tabLst>
                <a:tab pos="240665" algn="l"/>
                <a:tab pos="241300" algn="l"/>
                <a:tab pos="2755265" algn="l"/>
              </a:tabLst>
            </a:pPr>
            <a:r>
              <a:rPr sz="1600" dirty="0">
                <a:latin typeface="Courier New"/>
                <a:cs typeface="Courier New"/>
              </a:rPr>
              <a:t>Reference links	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3474" y="3972052"/>
            <a:ext cx="51600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Design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with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Applications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–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Grady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Booch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583" y="4596891"/>
            <a:ext cx="5617210" cy="94128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1600" u="sng" smtClean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</a:rPr>
              <a:t>https</a:t>
            </a:r>
            <a:r>
              <a:rPr sz="16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</a:rPr>
              <a:t>://docs.oracle.com/javase/tutorial/</a:t>
            </a:r>
            <a:endParaRPr sz="16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16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</a:rPr>
              <a:t>https://dev.java/</a:t>
            </a:r>
            <a:endParaRPr sz="16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16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</a:rPr>
              <a:t>https://docs.oracle.com/javase/8/docs/api/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3464" y="115315"/>
            <a:ext cx="162933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Contents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93891" y="637540"/>
            <a:ext cx="4654550" cy="1416413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Language,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Technology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Platform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History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programming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version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history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Software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Development</a:t>
            </a:r>
            <a:r>
              <a:rPr sz="1600" spc="-25">
                <a:latin typeface="Courier New"/>
                <a:cs typeface="Courier New"/>
              </a:rPr>
              <a:t> </a:t>
            </a:r>
            <a:r>
              <a:rPr sz="1600" smtClean="0">
                <a:latin typeface="Courier New"/>
                <a:cs typeface="Courier New"/>
              </a:rPr>
              <a:t>Kit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7119" y="115315"/>
            <a:ext cx="6133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Classification</a:t>
            </a:r>
            <a:r>
              <a:rPr spc="-10" dirty="0"/>
              <a:t> </a:t>
            </a:r>
            <a:r>
              <a:rPr spc="-5" dirty="0"/>
              <a:t>of Programming</a:t>
            </a:r>
            <a:r>
              <a:rPr spc="-10" dirty="0"/>
              <a:t> </a:t>
            </a:r>
            <a:r>
              <a:rPr spc="-5" dirty="0"/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681663"/>
            <a:ext cx="7868920" cy="363092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Machine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level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programming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language</a:t>
            </a:r>
            <a:endParaRPr sz="16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Binary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Low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level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programming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language</a:t>
            </a:r>
            <a:endParaRPr sz="16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Assembly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programming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8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High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level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programming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language</a:t>
            </a:r>
            <a:endParaRPr sz="16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500" spc="-5" dirty="0">
                <a:latin typeface="Courier New"/>
                <a:cs typeface="Courier New"/>
              </a:rPr>
              <a:t>Procedure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oriented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programming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languages</a:t>
            </a:r>
            <a:endParaRPr sz="1500">
              <a:latin typeface="Courier New"/>
              <a:cs typeface="Courier New"/>
            </a:endParaRPr>
          </a:p>
          <a:p>
            <a:pPr marL="1155700" lvl="2" indent="-228600">
              <a:lnSpc>
                <a:spcPct val="100000"/>
              </a:lnSpc>
              <a:spcBef>
                <a:spcPts val="414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400" spc="-5" dirty="0">
                <a:latin typeface="Courier New"/>
                <a:cs typeface="Courier New"/>
              </a:rPr>
              <a:t>Algol,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Fortran,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COBOL,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Pascal,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etc.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500" spc="-5" dirty="0">
                <a:latin typeface="Courier New"/>
                <a:cs typeface="Courier New"/>
              </a:rPr>
              <a:t>Object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oriented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programming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languages</a:t>
            </a:r>
            <a:endParaRPr sz="1500">
              <a:latin typeface="Courier New"/>
              <a:cs typeface="Courier New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400" spc="-5" dirty="0">
                <a:latin typeface="Courier New"/>
                <a:cs typeface="Courier New"/>
              </a:rPr>
              <a:t>Simula,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Smalltalk,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C++,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C#,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Go,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Python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etc.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500" spc="-5" dirty="0">
                <a:latin typeface="Courier New"/>
                <a:cs typeface="Courier New"/>
              </a:rPr>
              <a:t>Object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based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programming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languages</a:t>
            </a:r>
            <a:endParaRPr sz="1500">
              <a:latin typeface="Courier New"/>
              <a:cs typeface="Courier New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400" spc="-5" dirty="0">
                <a:latin typeface="Courier New"/>
                <a:cs typeface="Courier New"/>
              </a:rPr>
              <a:t>Ada,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Script,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Action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Script,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VB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Script,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Visual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Basic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etc.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500" spc="-5" dirty="0">
                <a:latin typeface="Courier New"/>
                <a:cs typeface="Courier New"/>
              </a:rPr>
              <a:t>Functional</a:t>
            </a:r>
            <a:r>
              <a:rPr sz="1500" spc="-4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programming</a:t>
            </a:r>
            <a:r>
              <a:rPr sz="1500" spc="-4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languages</a:t>
            </a:r>
            <a:endParaRPr sz="1500">
              <a:latin typeface="Courier New"/>
              <a:cs typeface="Courier New"/>
            </a:endParaRPr>
          </a:p>
          <a:p>
            <a:pPr marL="1155700" lvl="2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400" spc="-5" dirty="0">
                <a:latin typeface="Courier New"/>
                <a:cs typeface="Courier New"/>
              </a:rPr>
              <a:t>Haskell,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Lisp,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F#,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Scala,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Clojure,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Ocaml,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Python,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C#,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C++,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1639" y="115315"/>
            <a:ext cx="7466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“Hello</a:t>
            </a:r>
            <a:r>
              <a:rPr spc="-10" dirty="0"/>
              <a:t> </a:t>
            </a:r>
            <a:r>
              <a:rPr spc="-15" dirty="0"/>
              <a:t>World”</a:t>
            </a:r>
            <a:r>
              <a:rPr spc="-90" dirty="0"/>
              <a:t> </a:t>
            </a:r>
            <a:r>
              <a:rPr spc="-5" dirty="0"/>
              <a:t>Application</a:t>
            </a:r>
            <a:r>
              <a:rPr spc="-10" dirty="0"/>
              <a:t> </a:t>
            </a:r>
            <a:r>
              <a:rPr spc="-5" dirty="0"/>
              <a:t>using Machine 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735076"/>
            <a:ext cx="58769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Here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“Hello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World!!”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binary: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89241" y="1139158"/>
          <a:ext cx="4340859" cy="1245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610"/>
                <a:gridCol w="1099819"/>
                <a:gridCol w="1099820"/>
                <a:gridCol w="1070610"/>
              </a:tblGrid>
              <a:tr h="279907">
                <a:tc>
                  <a:txBody>
                    <a:bodyPr/>
                    <a:lstStyle/>
                    <a:p>
                      <a:pPr marR="21590" algn="ctr">
                        <a:lnSpc>
                          <a:spcPts val="1525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01001000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525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01100101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25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01101100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525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01101100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50520"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01101111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00100000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01010111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01101111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</a:tr>
              <a:tr h="342900"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01110010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01101100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01100100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00100001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320" marB="0"/>
                </a:tc>
              </a:tr>
              <a:tr h="272287">
                <a:tc>
                  <a:txBody>
                    <a:bodyPr/>
                    <a:lstStyle/>
                    <a:p>
                      <a:pPr marR="21590" algn="ctr">
                        <a:lnSpc>
                          <a:spcPts val="1895"/>
                        </a:lnSpc>
                        <a:spcBef>
                          <a:spcPts val="15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00100001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93891" y="2463291"/>
            <a:ext cx="47771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Advantages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machine-level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091" y="2714243"/>
            <a:ext cx="3141345" cy="7874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Very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fast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execution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times</a:t>
            </a:r>
            <a:endParaRPr sz="14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Complete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control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over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endParaRPr sz="14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No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need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compiler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3268" y="2964180"/>
            <a:ext cx="204660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computer's</a:t>
            </a:r>
            <a:r>
              <a:rPr sz="1400" spc="-1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hardware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interpreter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891" y="3781479"/>
            <a:ext cx="8270875" cy="10922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Limitations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machine-level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</a:t>
            </a:r>
            <a:endParaRPr sz="1600">
              <a:latin typeface="Courier New"/>
              <a:cs typeface="Courier New"/>
            </a:endParaRPr>
          </a:p>
          <a:p>
            <a:pPr marL="812800" lvl="1" indent="-342900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812800" algn="l"/>
              </a:tabLst>
            </a:pPr>
            <a:r>
              <a:rPr sz="1400" spc="-5" dirty="0">
                <a:latin typeface="Courier New"/>
                <a:cs typeface="Courier New"/>
              </a:rPr>
              <a:t>Very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difficult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read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write</a:t>
            </a:r>
            <a:endParaRPr sz="1400">
              <a:latin typeface="Courier New"/>
              <a:cs typeface="Courier New"/>
            </a:endParaRPr>
          </a:p>
          <a:p>
            <a:pPr marL="812800" lvl="1" indent="-3429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812800" algn="l"/>
              </a:tabLst>
            </a:pPr>
            <a:r>
              <a:rPr sz="1400" spc="-5" dirty="0">
                <a:latin typeface="Courier New"/>
                <a:cs typeface="Courier New"/>
              </a:rPr>
              <a:t>Specific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particular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computer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architecture,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making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non-portable</a:t>
            </a:r>
            <a:endParaRPr sz="1400">
              <a:latin typeface="Courier New"/>
              <a:cs typeface="Courier New"/>
            </a:endParaRPr>
          </a:p>
          <a:p>
            <a:pPr marL="812800" lvl="1" indent="-3429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812800" algn="l"/>
              </a:tabLst>
            </a:pPr>
            <a:r>
              <a:rPr sz="1400" spc="-5" dirty="0">
                <a:latin typeface="Courier New"/>
                <a:cs typeface="Courier New"/>
              </a:rPr>
              <a:t>Requires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deep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understanding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of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underlying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hardware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5434" y="115315"/>
            <a:ext cx="77190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“Hello</a:t>
            </a:r>
            <a:r>
              <a:rPr spc="-10" dirty="0"/>
              <a:t> </a:t>
            </a:r>
            <a:r>
              <a:rPr spc="-15" dirty="0"/>
              <a:t>World”</a:t>
            </a:r>
            <a:r>
              <a:rPr spc="-90" dirty="0"/>
              <a:t> </a:t>
            </a:r>
            <a:r>
              <a:rPr spc="-5" dirty="0"/>
              <a:t>Application</a:t>
            </a:r>
            <a:r>
              <a:rPr spc="-10" dirty="0"/>
              <a:t> </a:t>
            </a:r>
            <a:r>
              <a:rPr spc="-5" dirty="0"/>
              <a:t>using Low Level</a:t>
            </a:r>
            <a:r>
              <a:rPr spc="-1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695959"/>
            <a:ext cx="7225665" cy="198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5" dirty="0">
                <a:latin typeface="Courier New"/>
                <a:cs typeface="Courier New"/>
              </a:rPr>
              <a:t>Here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is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the "Hello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World!!"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program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in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x86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assembly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language: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Courier New"/>
                <a:cs typeface="Courier New"/>
              </a:rPr>
              <a:t>section</a:t>
            </a:r>
            <a:r>
              <a:rPr sz="1500" spc="-7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.data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sz="1500" spc="-5" dirty="0">
                <a:latin typeface="Courier New"/>
                <a:cs typeface="Courier New"/>
              </a:rPr>
              <a:t>msg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db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'Hello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World!!',0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500" spc="-5" dirty="0">
                <a:latin typeface="Courier New"/>
                <a:cs typeface="Courier New"/>
              </a:rPr>
              <a:t>section</a:t>
            </a:r>
            <a:r>
              <a:rPr sz="1500" spc="-7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.text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1500" spc="-5" dirty="0">
                <a:latin typeface="Courier New"/>
                <a:cs typeface="Courier New"/>
              </a:rPr>
              <a:t>global</a:t>
            </a:r>
            <a:r>
              <a:rPr sz="1500" spc="-7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_start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891" y="2930144"/>
            <a:ext cx="3683000" cy="8915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-5" dirty="0">
                <a:latin typeface="Courier New"/>
                <a:cs typeface="Courier New"/>
              </a:rPr>
              <a:t>_start:</a:t>
            </a:r>
            <a:endParaRPr sz="1500">
              <a:latin typeface="Courier New"/>
              <a:cs typeface="Courier New"/>
            </a:endParaRPr>
          </a:p>
          <a:p>
            <a:pPr marL="469900" marR="5080">
              <a:lnSpc>
                <a:spcPct val="122700"/>
              </a:lnSpc>
              <a:spcBef>
                <a:spcPts val="100"/>
              </a:spcBef>
              <a:tabLst>
                <a:tab pos="2183765" algn="l"/>
              </a:tabLst>
            </a:pPr>
            <a:r>
              <a:rPr sz="1500" dirty="0">
                <a:latin typeface="Courier New"/>
                <a:cs typeface="Courier New"/>
              </a:rPr>
              <a:t>; </a:t>
            </a:r>
            <a:r>
              <a:rPr sz="1500" spc="-5" dirty="0">
                <a:latin typeface="Courier New"/>
                <a:cs typeface="Courier New"/>
              </a:rPr>
              <a:t>Write the string to stdout </a:t>
            </a:r>
            <a:r>
              <a:rPr sz="1500" spc="-89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mov eax,</a:t>
            </a:r>
            <a:r>
              <a:rPr sz="1500" dirty="0">
                <a:latin typeface="Courier New"/>
                <a:cs typeface="Courier New"/>
              </a:rPr>
              <a:t> 4	;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System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call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5550" y="3567176"/>
            <a:ext cx="1282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ourier New"/>
                <a:cs typeface="Courier New"/>
              </a:rPr>
              <a:t>for</a:t>
            </a:r>
            <a:r>
              <a:rPr sz="1500" spc="-9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"write"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2041" y="3919365"/>
          <a:ext cx="4978400" cy="10530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/>
                <a:gridCol w="571500"/>
                <a:gridCol w="571500"/>
                <a:gridCol w="342900"/>
                <a:gridCol w="3060700"/>
              </a:tblGrid>
              <a:tr h="241553">
                <a:tc>
                  <a:txBody>
                    <a:bodyPr/>
                    <a:lstStyle/>
                    <a:p>
                      <a:pPr marR="18415" algn="ctr">
                        <a:lnSpc>
                          <a:spcPts val="1430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mov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ebx,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430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1430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430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File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descriptor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5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stdout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84988"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mov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ecx,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msg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Pointer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message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</a:tr>
              <a:tr h="284988">
                <a:tc>
                  <a:txBody>
                    <a:bodyPr/>
                    <a:lstStyle/>
                    <a:p>
                      <a:pPr marR="18415" algn="ctr">
                        <a:lnSpc>
                          <a:spcPts val="177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mov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edx,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77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13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ts val="1775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77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Length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of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message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41553">
                <a:tc>
                  <a:txBody>
                    <a:bodyPr/>
                    <a:lstStyle/>
                    <a:p>
                      <a:pPr marR="18415" algn="ctr">
                        <a:lnSpc>
                          <a:spcPts val="1770"/>
                        </a:lnSpc>
                        <a:spcBef>
                          <a:spcPts val="30"/>
                        </a:spcBef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int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  <a:spcBef>
                          <a:spcPts val="30"/>
                        </a:spcBef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0x80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ts val="1770"/>
                        </a:lnSpc>
                        <a:spcBef>
                          <a:spcPts val="30"/>
                        </a:spcBef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770"/>
                        </a:lnSpc>
                        <a:spcBef>
                          <a:spcPts val="30"/>
                        </a:spcBef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Call</a:t>
                      </a:r>
                      <a:r>
                        <a:rPr sz="15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5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kernel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51091" y="5295391"/>
            <a:ext cx="42545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ourier New"/>
                <a:cs typeface="Courier New"/>
              </a:rPr>
              <a:t>;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Exit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the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program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with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status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of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0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32041" y="5644532"/>
          <a:ext cx="4864100" cy="470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/>
                <a:gridCol w="571500"/>
                <a:gridCol w="571500"/>
                <a:gridCol w="342900"/>
                <a:gridCol w="800100"/>
                <a:gridCol w="2146300"/>
              </a:tblGrid>
              <a:tr h="235457">
                <a:tc>
                  <a:txBody>
                    <a:bodyPr/>
                    <a:lstStyle/>
                    <a:p>
                      <a:pPr marR="18415" algn="ctr">
                        <a:lnSpc>
                          <a:spcPts val="1430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mov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eax,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430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ts val="1430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System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430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call</a:t>
                      </a:r>
                      <a:r>
                        <a:rPr sz="15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5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"exit"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35457">
                <a:tc>
                  <a:txBody>
                    <a:bodyPr/>
                    <a:lstStyle/>
                    <a:p>
                      <a:pPr marR="18415" algn="ctr">
                        <a:lnSpc>
                          <a:spcPts val="175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xor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ebx,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75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ebx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1755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;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Status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755"/>
                        </a:lnSpc>
                      </a:pPr>
                      <a:r>
                        <a:rPr sz="1500" spc="-5" dirty="0">
                          <a:latin typeface="Courier New"/>
                          <a:cs typeface="Courier New"/>
                        </a:rPr>
                        <a:t>code</a:t>
                      </a:r>
                      <a:r>
                        <a:rPr sz="15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(0</a:t>
                      </a:r>
                      <a:r>
                        <a:rPr sz="15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5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5" dirty="0">
                          <a:latin typeface="Courier New"/>
                          <a:cs typeface="Courier New"/>
                        </a:rPr>
                        <a:t>success)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51091" y="6157976"/>
            <a:ext cx="9398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ourier New"/>
                <a:cs typeface="Courier New"/>
              </a:rPr>
              <a:t>int</a:t>
            </a:r>
            <a:r>
              <a:rPr sz="1500" spc="-9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0x80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5517" y="6157976"/>
            <a:ext cx="19685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ourier New"/>
                <a:cs typeface="Courier New"/>
              </a:rPr>
              <a:t>;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Call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the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kernel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6239" y="115315"/>
            <a:ext cx="7533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Advantages and</a:t>
            </a:r>
            <a:r>
              <a:rPr spc="-10" dirty="0"/>
              <a:t> </a:t>
            </a:r>
            <a:r>
              <a:rPr spc="-5" dirty="0"/>
              <a:t>Limitations</a:t>
            </a:r>
            <a:r>
              <a:rPr dirty="0"/>
              <a:t> </a:t>
            </a:r>
            <a:r>
              <a:rPr spc="-5" dirty="0"/>
              <a:t>of Low Level</a:t>
            </a:r>
            <a:r>
              <a:rPr spc="-10" dirty="0"/>
              <a:t> </a:t>
            </a:r>
            <a:r>
              <a:rPr spc="-5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681663"/>
            <a:ext cx="7959725" cy="255206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Advantages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low-level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include:</a:t>
            </a:r>
            <a:endParaRPr sz="1600">
              <a:latin typeface="Courier New"/>
              <a:cs typeface="Courier New"/>
            </a:endParaRPr>
          </a:p>
          <a:p>
            <a:pPr marL="927100" lvl="1" indent="-457200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400" spc="-5" dirty="0">
                <a:latin typeface="Courier New"/>
                <a:cs typeface="Courier New"/>
              </a:rPr>
              <a:t>Faster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execution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times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high-level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languages</a:t>
            </a:r>
            <a:endParaRPr sz="1400">
              <a:latin typeface="Courier New"/>
              <a:cs typeface="Courier New"/>
            </a:endParaRPr>
          </a:p>
          <a:p>
            <a:pPr marL="927100" lvl="1" indent="-45720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400" spc="-5" dirty="0">
                <a:latin typeface="Courier New"/>
                <a:cs typeface="Courier New"/>
              </a:rPr>
              <a:t>Direct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access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computer's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hardware</a:t>
            </a:r>
            <a:endParaRPr sz="1400">
              <a:latin typeface="Courier New"/>
              <a:cs typeface="Courier New"/>
            </a:endParaRPr>
          </a:p>
          <a:p>
            <a:pPr marL="927100" lvl="1" indent="-45720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400" spc="-5" dirty="0">
                <a:latin typeface="Courier New"/>
                <a:cs typeface="Courier New"/>
              </a:rPr>
              <a:t>More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portable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machine-level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</a:t>
            </a:r>
            <a:endParaRPr sz="140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buFont typeface="Courier New"/>
              <a:buAutoNum type="arabicPeriod"/>
            </a:pPr>
            <a:endParaRPr sz="140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Courier New"/>
              <a:buAutoNum type="arabicPeriod"/>
            </a:pPr>
            <a:endParaRPr sz="17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Limitations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low-level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include:</a:t>
            </a:r>
            <a:endParaRPr sz="1600">
              <a:latin typeface="Courier New"/>
              <a:cs typeface="Courier New"/>
            </a:endParaRPr>
          </a:p>
          <a:p>
            <a:pPr marL="927100" lvl="1" indent="-45720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400" spc="-5" dirty="0">
                <a:latin typeface="Courier New"/>
                <a:cs typeface="Courier New"/>
              </a:rPr>
              <a:t>Still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difficult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read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write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compared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high-level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languages</a:t>
            </a:r>
            <a:endParaRPr sz="1400">
              <a:latin typeface="Courier New"/>
              <a:cs typeface="Courier New"/>
            </a:endParaRPr>
          </a:p>
          <a:p>
            <a:pPr marL="927100" lvl="1" indent="-45720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400" spc="-5" dirty="0">
                <a:latin typeface="Courier New"/>
                <a:cs typeface="Courier New"/>
              </a:rPr>
              <a:t>Can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error-prone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due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need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manual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memory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management</a:t>
            </a:r>
            <a:endParaRPr sz="1400">
              <a:latin typeface="Courier New"/>
              <a:cs typeface="Courier New"/>
            </a:endParaRPr>
          </a:p>
          <a:p>
            <a:pPr marL="927100" lvl="1" indent="-4572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1400" spc="-5" dirty="0">
                <a:latin typeface="Courier New"/>
                <a:cs typeface="Courier New"/>
              </a:rPr>
              <a:t>Not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as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user-friendly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high-level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languages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1302" y="115315"/>
            <a:ext cx="7787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“Hello</a:t>
            </a:r>
            <a:r>
              <a:rPr spc="-10" dirty="0"/>
              <a:t> </a:t>
            </a:r>
            <a:r>
              <a:rPr spc="-15" dirty="0"/>
              <a:t>World”</a:t>
            </a:r>
            <a:r>
              <a:rPr spc="-90" dirty="0"/>
              <a:t> </a:t>
            </a:r>
            <a:r>
              <a:rPr spc="-5" dirty="0"/>
              <a:t>Application using High</a:t>
            </a:r>
            <a:r>
              <a:rPr spc="-10" dirty="0"/>
              <a:t> </a:t>
            </a:r>
            <a:r>
              <a:rPr spc="-5" dirty="0"/>
              <a:t>Level 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594577"/>
            <a:ext cx="5876925" cy="145224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Here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“Hello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World!!”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Python:</a:t>
            </a:r>
            <a:endParaRPr sz="1600">
              <a:latin typeface="Courier New"/>
              <a:cs typeface="Courier New"/>
            </a:endParaRPr>
          </a:p>
          <a:p>
            <a:pPr marL="1049020">
              <a:lnSpc>
                <a:spcPct val="100000"/>
              </a:lnSpc>
              <a:spcBef>
                <a:spcPts val="970"/>
              </a:spcBef>
            </a:pPr>
            <a:r>
              <a:rPr sz="1400" spc="-5" dirty="0">
                <a:latin typeface="Courier New"/>
                <a:cs typeface="Courier New"/>
              </a:rPr>
              <a:t>print("Hello,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world!")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Advantages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high-level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091" y="2004060"/>
            <a:ext cx="908050" cy="8121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Easy</a:t>
            </a:r>
            <a:endParaRPr sz="14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Less</a:t>
            </a:r>
            <a:endParaRPr sz="14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More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0022" y="2004060"/>
            <a:ext cx="7895590" cy="8121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read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write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  <a:spcBef>
                <a:spcPts val="75"/>
              </a:spcBef>
            </a:pPr>
            <a:r>
              <a:rPr sz="1400" spc="-5" dirty="0">
                <a:latin typeface="Courier New"/>
                <a:cs typeface="Courier New"/>
              </a:rPr>
              <a:t>error-prone due to built-in error checking and automatic memory management </a:t>
            </a:r>
            <a:r>
              <a:rPr sz="1400" spc="-8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portable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than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machine-level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low-level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languages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3891" y="3109612"/>
            <a:ext cx="7845425" cy="10661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Limitations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high-level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</a:t>
            </a:r>
            <a:endParaRPr sz="1600">
              <a:latin typeface="Courier New"/>
              <a:cs typeface="Courier New"/>
            </a:endParaRPr>
          </a:p>
          <a:p>
            <a:pPr marL="812800" lvl="1" indent="-34290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812800" algn="l"/>
              </a:tabLst>
            </a:pPr>
            <a:r>
              <a:rPr sz="1400" spc="-5" dirty="0">
                <a:latin typeface="Courier New"/>
                <a:cs typeface="Courier New"/>
              </a:rPr>
              <a:t>Slower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execution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times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low-level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languages</a:t>
            </a:r>
            <a:endParaRPr sz="1400">
              <a:latin typeface="Courier New"/>
              <a:cs typeface="Courier New"/>
            </a:endParaRPr>
          </a:p>
          <a:p>
            <a:pPr marL="812800" lvl="1" indent="-3429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812800" algn="l"/>
              </a:tabLst>
            </a:pPr>
            <a:r>
              <a:rPr sz="1400" spc="-5" dirty="0">
                <a:latin typeface="Courier New"/>
                <a:cs typeface="Courier New"/>
              </a:rPr>
              <a:t>Less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control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over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computer's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hardware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than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low-level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languages</a:t>
            </a:r>
            <a:endParaRPr sz="1400">
              <a:latin typeface="Courier New"/>
              <a:cs typeface="Courier New"/>
            </a:endParaRPr>
          </a:p>
          <a:p>
            <a:pPr marL="812800" lvl="1" indent="-3429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812800" algn="l"/>
              </a:tabLst>
            </a:pPr>
            <a:r>
              <a:rPr sz="1400" spc="-5" dirty="0">
                <a:latin typeface="Courier New"/>
                <a:cs typeface="Courier New"/>
              </a:rPr>
              <a:t>More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memory-intensive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low-level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languages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6851" y="115315"/>
            <a:ext cx="2818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</a:t>
            </a:r>
            <a:r>
              <a:rPr spc="-40" dirty="0"/>
              <a:t> </a:t>
            </a:r>
            <a:r>
              <a:rPr spc="-5" dirty="0"/>
              <a:t>is</a:t>
            </a:r>
            <a:r>
              <a:rPr spc="-35" dirty="0"/>
              <a:t> </a:t>
            </a:r>
            <a:r>
              <a:rPr spc="-5" dirty="0"/>
              <a:t>Language?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735076"/>
            <a:ext cx="11621770" cy="3241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615950" indent="-228600">
              <a:lnSpc>
                <a:spcPts val="1700"/>
              </a:lnSpc>
              <a:spcBef>
                <a:spcPts val="3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Language is a system of communication that allows humans to convey meaning to each other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through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use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symbols,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such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words, gestures,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facial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expressions.</a:t>
            </a:r>
            <a:endParaRPr sz="1600">
              <a:latin typeface="Courier New"/>
              <a:cs typeface="Courier New"/>
            </a:endParaRPr>
          </a:p>
          <a:p>
            <a:pPr marL="241300" marR="5080" indent="-228600">
              <a:lnSpc>
                <a:spcPts val="1700"/>
              </a:lnSpc>
              <a:spcBef>
                <a:spcPts val="10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In the context of computer science, programming languages are used to write software programs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that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can be executed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 computers.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General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programming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contains:</a:t>
            </a:r>
            <a:endParaRPr sz="16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Syntax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Semantics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Tokens(Identifier,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Keyword,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Constant,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operator,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Separator)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Data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Types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Comments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Built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unique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features</a:t>
            </a:r>
            <a:endParaRPr sz="1400">
              <a:latin typeface="Courier New"/>
              <a:cs typeface="Courier New"/>
            </a:endParaRPr>
          </a:p>
          <a:p>
            <a:pPr marL="241300" marR="860425" indent="-228600">
              <a:lnSpc>
                <a:spcPts val="1700"/>
              </a:lnSpc>
              <a:spcBef>
                <a:spcPts val="10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Even though languages are used to implement business logic, they can be used to create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applications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too: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091" y="3954779"/>
            <a:ext cx="7592059" cy="790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Console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User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Interface(CUI)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/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Command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Line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Interface(CLI)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Graphical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User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Interface(GUI)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Library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0450" y="4414011"/>
            <a:ext cx="2897505" cy="94106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400" spc="-5" dirty="0">
                <a:latin typeface="Courier New"/>
                <a:cs typeface="Courier New"/>
              </a:rPr>
              <a:t>Application(.lib/.dll/.jar)</a:t>
            </a:r>
            <a:endParaRPr sz="1400">
              <a:latin typeface="Courier New"/>
              <a:cs typeface="Courier New"/>
            </a:endParaRPr>
          </a:p>
          <a:p>
            <a:pPr marL="48895">
              <a:lnSpc>
                <a:spcPct val="100000"/>
              </a:lnSpc>
              <a:spcBef>
                <a:spcPts val="835"/>
              </a:spcBef>
            </a:pPr>
            <a:r>
              <a:rPr sz="1600" dirty="0">
                <a:latin typeface="Courier New"/>
                <a:cs typeface="Courier New"/>
              </a:rPr>
              <a:t>Languages: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spc="-5" dirty="0">
                <a:latin typeface="Courier New"/>
                <a:cs typeface="Courier New"/>
              </a:rPr>
              <a:t>Java,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C#,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Python,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GO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etc.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3891" y="4772079"/>
            <a:ext cx="1476375" cy="58293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27965" marR="5080" indent="-227965" algn="r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27965" algn="l"/>
                <a:tab pos="228600" algn="l"/>
              </a:tabLst>
            </a:pPr>
            <a:r>
              <a:rPr sz="1600" dirty="0">
                <a:latin typeface="Courier New"/>
                <a:cs typeface="Courier New"/>
              </a:rPr>
              <a:t>Example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endParaRPr sz="1600">
              <a:latin typeface="Courier New"/>
              <a:cs typeface="Courier New"/>
            </a:endParaRPr>
          </a:p>
          <a:p>
            <a:pPr marL="227965" marR="25400" lvl="1" indent="-227965" algn="r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27965" algn="l"/>
                <a:tab pos="228600" algn="l"/>
              </a:tabLst>
            </a:pPr>
            <a:r>
              <a:rPr sz="1400" spc="-5" dirty="0">
                <a:latin typeface="Courier New"/>
                <a:cs typeface="Courier New"/>
              </a:rPr>
              <a:t>C,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C++,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3216" y="115315"/>
            <a:ext cx="3065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</a:t>
            </a:r>
            <a:r>
              <a:rPr spc="-50" dirty="0"/>
              <a:t> </a:t>
            </a:r>
            <a:r>
              <a:rPr spc="-5" dirty="0"/>
              <a:t>is</a:t>
            </a:r>
            <a:r>
              <a:rPr spc="-45" dirty="0"/>
              <a:t> </a:t>
            </a:r>
            <a:r>
              <a:rPr spc="-20" dirty="0"/>
              <a:t>Technology?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735076"/>
            <a:ext cx="75882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Technology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refers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tools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techniques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used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create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8431" y="735076"/>
            <a:ext cx="3692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manipulate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information.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891" y="841756"/>
            <a:ext cx="7343775" cy="7327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Courier New"/>
                <a:cs typeface="Courier New"/>
              </a:rPr>
              <a:t>Simple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words,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can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develop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application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using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technology.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Example: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3891" y="1546860"/>
            <a:ext cx="10521315" cy="21247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698500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Artificial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Intelligence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(AI)</a:t>
            </a:r>
            <a:endParaRPr sz="1400">
              <a:latin typeface="Courier New"/>
              <a:cs typeface="Courier New"/>
            </a:endParaRPr>
          </a:p>
          <a:p>
            <a:pPr marL="6985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Blockchain</a:t>
            </a:r>
            <a:endParaRPr sz="1400">
              <a:latin typeface="Courier New"/>
              <a:cs typeface="Courier New"/>
            </a:endParaRPr>
          </a:p>
          <a:p>
            <a:pPr marL="698500" indent="-2286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Augmented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Reality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(AR)</a:t>
            </a:r>
            <a:endParaRPr sz="1400">
              <a:latin typeface="Courier New"/>
              <a:cs typeface="Courier New"/>
            </a:endParaRPr>
          </a:p>
          <a:p>
            <a:pPr marL="6985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Internet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of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Things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(IoT)</a:t>
            </a:r>
            <a:endParaRPr sz="1400">
              <a:latin typeface="Courier New"/>
              <a:cs typeface="Courier New"/>
            </a:endParaRPr>
          </a:p>
          <a:p>
            <a:pPr marL="698500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Cloud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Computing</a:t>
            </a:r>
            <a:endParaRPr sz="1400">
              <a:latin typeface="Courier New"/>
              <a:cs typeface="Courier New"/>
            </a:endParaRPr>
          </a:p>
          <a:p>
            <a:pPr marL="241300" marR="5080" indent="-228600">
              <a:lnSpc>
                <a:spcPts val="1700"/>
              </a:lnSpc>
              <a:spcBef>
                <a:spcPts val="10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Note: Every language can be considered as technology but every technology can not be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considered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 language.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7657" y="115315"/>
            <a:ext cx="2616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</a:t>
            </a:r>
            <a:r>
              <a:rPr spc="-35" dirty="0"/>
              <a:t> </a:t>
            </a:r>
            <a:r>
              <a:rPr spc="-5" dirty="0"/>
              <a:t>is</a:t>
            </a:r>
            <a:r>
              <a:rPr spc="-35" dirty="0"/>
              <a:t> </a:t>
            </a:r>
            <a:r>
              <a:rPr spc="-5" dirty="0"/>
              <a:t>Platform?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637540"/>
            <a:ext cx="10888345" cy="302895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i="1" dirty="0">
                <a:latin typeface="Courier New"/>
                <a:cs typeface="Courier New"/>
              </a:rPr>
              <a:t>platform</a:t>
            </a:r>
            <a:r>
              <a:rPr sz="1600" i="1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hardware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or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software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environment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which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runs.</a:t>
            </a:r>
            <a:endParaRPr sz="1600">
              <a:latin typeface="Courier New"/>
              <a:cs typeface="Courier New"/>
            </a:endParaRPr>
          </a:p>
          <a:p>
            <a:pPr marL="241300" marR="5080" indent="-228600">
              <a:lnSpc>
                <a:spcPts val="1800"/>
              </a:lnSpc>
              <a:spcBef>
                <a:spcPts val="9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Most platforms can be described as a combination of the operating system and underlying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hardware:</a:t>
            </a:r>
            <a:endParaRPr sz="16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Microsoft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Windows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Linux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Mac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OS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Android</a:t>
            </a:r>
            <a:endParaRPr sz="1400">
              <a:latin typeface="Courier New"/>
              <a:cs typeface="Courier New"/>
            </a:endParaRPr>
          </a:p>
          <a:p>
            <a:pPr marL="241300" marR="248285" indent="-228600">
              <a:lnSpc>
                <a:spcPts val="1800"/>
              </a:lnSpc>
              <a:spcBef>
                <a:spcPts val="87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Software-only platforms are the applications that runs on top of other hardware-based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platforms:</a:t>
            </a:r>
            <a:endParaRPr sz="16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Microsoft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.NET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5394" y="115315"/>
            <a:ext cx="5797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History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dirty="0"/>
              <a:t>Java</a:t>
            </a:r>
            <a:r>
              <a:rPr spc="-10" dirty="0"/>
              <a:t> </a:t>
            </a:r>
            <a:r>
              <a:rPr spc="-5" dirty="0"/>
              <a:t>Programming</a:t>
            </a:r>
            <a:r>
              <a:rPr spc="-15" dirty="0"/>
              <a:t> </a:t>
            </a:r>
            <a:r>
              <a:rPr spc="-5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735076"/>
            <a:ext cx="10400030" cy="4857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5080" indent="-228600">
              <a:lnSpc>
                <a:spcPts val="1700"/>
              </a:lnSpc>
              <a:spcBef>
                <a:spcPts val="340"/>
              </a:spcBef>
              <a:buFont typeface="Arial MT"/>
              <a:buChar char="•"/>
              <a:tabLst>
                <a:tab pos="240665" algn="l"/>
                <a:tab pos="241300" algn="l"/>
                <a:tab pos="7819390" algn="l"/>
              </a:tabLst>
            </a:pPr>
            <a:r>
              <a:rPr sz="1600" dirty="0">
                <a:latin typeface="Courier New"/>
                <a:cs typeface="Courier New"/>
              </a:rPr>
              <a:t>Java is high-level, statically type checked, Object-oriented	as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well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Functional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programming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3638" y="1204468"/>
            <a:ext cx="1981200" cy="71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2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language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both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name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891" y="1204468"/>
            <a:ext cx="742950" cy="10560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Java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Code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Java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3638" y="1990852"/>
            <a:ext cx="19812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was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developed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1527" y="1204468"/>
            <a:ext cx="858266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72025" indent="-635">
              <a:lnSpc>
                <a:spcPct val="1412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technology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well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platform.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was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“Green”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Project.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600" dirty="0">
                <a:latin typeface="Courier New"/>
                <a:cs typeface="Courier New"/>
              </a:rPr>
              <a:t>(“</a:t>
            </a:r>
            <a:r>
              <a:rPr sz="1600" b="1" dirty="0">
                <a:latin typeface="Courier New"/>
                <a:cs typeface="Courier New"/>
              </a:rPr>
              <a:t>Green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Team</a:t>
            </a:r>
            <a:r>
              <a:rPr sz="1600" dirty="0">
                <a:latin typeface="Courier New"/>
                <a:cs typeface="Courier New"/>
              </a:rPr>
              <a:t>”)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James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Gosling,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Patrick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Naughton,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Chris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Warth,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Frank,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891" y="2094483"/>
            <a:ext cx="11499850" cy="73914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Mike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Sheridan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Sun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Microsystems,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which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was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later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acquired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Oracle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Corporation(2010).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name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"Green"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was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chosen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because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team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wanted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emphasize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that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their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goal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was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491" y="2780284"/>
            <a:ext cx="11393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create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environmentally-friendly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that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would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allow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run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efficiently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891" y="2899155"/>
            <a:ext cx="11377295" cy="25374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65"/>
              </a:spcBef>
            </a:pPr>
            <a:r>
              <a:rPr sz="1600" dirty="0">
                <a:latin typeface="Courier New"/>
                <a:cs typeface="Courier New"/>
              </a:rPr>
              <a:t>variety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devices,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including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small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handheld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devices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large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servers.</a:t>
            </a:r>
            <a:endParaRPr sz="1600">
              <a:latin typeface="Courier New"/>
              <a:cs typeface="Courier New"/>
            </a:endParaRPr>
          </a:p>
          <a:p>
            <a:pPr marL="241300" marR="127635" indent="-228600">
              <a:lnSpc>
                <a:spcPts val="1800"/>
              </a:lnSpc>
              <a:spcBef>
                <a:spcPts val="9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Green Team started working on “Green Project” in 1991 and first public version released in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1996.</a:t>
            </a:r>
            <a:endParaRPr sz="1600">
              <a:latin typeface="Courier New"/>
              <a:cs typeface="Courier New"/>
            </a:endParaRPr>
          </a:p>
          <a:p>
            <a:pPr marL="241300" marR="5080" indent="-228600">
              <a:lnSpc>
                <a:spcPts val="168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In fact, the original name for Java was "</a:t>
            </a:r>
            <a:r>
              <a:rPr sz="1600" b="1" dirty="0">
                <a:latin typeface="Courier New"/>
                <a:cs typeface="Courier New"/>
              </a:rPr>
              <a:t>Oak</a:t>
            </a:r>
            <a:r>
              <a:rPr sz="1600" dirty="0">
                <a:latin typeface="Courier New"/>
                <a:cs typeface="Courier New"/>
              </a:rPr>
              <a:t>", but it was changed to "Java" because another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company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had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already registered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 name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"Oak" for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their product.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Java's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slogan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"</a:t>
            </a:r>
            <a:r>
              <a:rPr sz="1600" b="1" dirty="0">
                <a:latin typeface="Courier New"/>
                <a:cs typeface="Courier New"/>
              </a:rPr>
              <a:t>Write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Once,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Run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Anywhere</a:t>
            </a:r>
            <a:r>
              <a:rPr sz="1600" dirty="0"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(sometimes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abbreviated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"WORA").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standardization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overseen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 </a:t>
            </a:r>
            <a:r>
              <a:rPr sz="1600" b="1" dirty="0">
                <a:latin typeface="Courier New"/>
                <a:cs typeface="Courier New"/>
              </a:rPr>
              <a:t>Java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Community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Process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(JCP).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“*7”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first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project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delivered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Green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Team.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3891" y="5370703"/>
            <a:ext cx="7710170" cy="67500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An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extremely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intelligent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TV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remote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control.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Reference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read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short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history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Java: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Core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Volume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957" y="0"/>
            <a:ext cx="4163695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693420">
              <a:lnSpc>
                <a:spcPts val="2400"/>
              </a:lnSpc>
              <a:spcBef>
                <a:spcPts val="380"/>
              </a:spcBef>
            </a:pPr>
            <a:r>
              <a:rPr sz="2200" dirty="0"/>
              <a:t>Java</a:t>
            </a:r>
            <a:r>
              <a:rPr sz="2200" spc="-10" dirty="0"/>
              <a:t> </a:t>
            </a:r>
            <a:r>
              <a:rPr sz="2200" spc="-20" dirty="0"/>
              <a:t>Version</a:t>
            </a:r>
            <a:r>
              <a:rPr sz="2200" dirty="0"/>
              <a:t> </a:t>
            </a:r>
            <a:r>
              <a:rPr sz="2200" spc="-5" dirty="0"/>
              <a:t>History </a:t>
            </a:r>
            <a:r>
              <a:rPr sz="2200" dirty="0"/>
              <a:t> (</a:t>
            </a:r>
            <a:r>
              <a:rPr sz="13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https://en.wikipedia.org/wiki/Java_version_history</a:t>
            </a:r>
            <a:r>
              <a:rPr sz="2200" dirty="0"/>
              <a:t>)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6096" y="749808"/>
            <a:ext cx="4882895" cy="6092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6545" y="115315"/>
            <a:ext cx="2637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spc="-45" dirty="0"/>
              <a:t> </a:t>
            </a:r>
            <a:r>
              <a:rPr spc="-5" dirty="0"/>
              <a:t>Code</a:t>
            </a:r>
            <a:r>
              <a:rPr spc="-40" dirty="0"/>
              <a:t> </a:t>
            </a:r>
            <a:r>
              <a:rPr dirty="0"/>
              <a:t>Names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735076"/>
            <a:ext cx="4288155" cy="4857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5080" indent="-228600">
              <a:lnSpc>
                <a:spcPts val="1700"/>
              </a:lnSpc>
              <a:spcBef>
                <a:spcPts val="3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Code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names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are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used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developers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development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process.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8269" y="735076"/>
            <a:ext cx="27146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companies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refer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89530" y="735076"/>
            <a:ext cx="44259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different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versions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during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5722" y="1458467"/>
            <a:ext cx="450850" cy="10407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spc="-5" dirty="0">
                <a:latin typeface="Courier New"/>
                <a:cs typeface="Courier New"/>
              </a:rPr>
              <a:t>1.2: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400" spc="-5" dirty="0">
                <a:latin typeface="Courier New"/>
                <a:cs typeface="Courier New"/>
              </a:rPr>
              <a:t>1.3: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spc="-5" dirty="0">
                <a:latin typeface="Courier New"/>
                <a:cs typeface="Courier New"/>
              </a:rPr>
              <a:t>1.4: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Courier New"/>
                <a:cs typeface="Courier New"/>
              </a:rPr>
              <a:t>5.0: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091" y="1199387"/>
            <a:ext cx="2176780" cy="23266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JDK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1.1: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Sparkler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J2SE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J2SE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J2SE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J2SE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355600" algn="l"/>
              </a:tabLst>
            </a:pPr>
            <a:r>
              <a:rPr sz="1400" b="1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091" y="3497579"/>
            <a:ext cx="793750" cy="20739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AutoNum type="arabicPeriod" startAt="10"/>
              <a:tabLst>
                <a:tab pos="355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5722" y="1458467"/>
            <a:ext cx="2152650" cy="4112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4195" marR="536575">
              <a:lnSpc>
                <a:spcPct val="119000"/>
              </a:lnSpc>
              <a:spcBef>
                <a:spcPts val="90"/>
              </a:spcBef>
            </a:pPr>
            <a:r>
              <a:rPr sz="1400" spc="-5" dirty="0">
                <a:latin typeface="Courier New"/>
                <a:cs typeface="Courier New"/>
              </a:rPr>
              <a:t>Playground  Kestrel 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Merlin 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Tiger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spc="-5" dirty="0">
                <a:latin typeface="Courier New"/>
                <a:cs typeface="Courier New"/>
              </a:rPr>
              <a:t>SE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6: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Mustang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spc="-5" dirty="0">
                <a:latin typeface="Courier New"/>
                <a:cs typeface="Courier New"/>
              </a:rPr>
              <a:t>SE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7: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Dolphin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b="1" spc="-5" dirty="0">
                <a:latin typeface="Courier New"/>
                <a:cs typeface="Courier New"/>
              </a:rPr>
              <a:t>SE</a:t>
            </a:r>
            <a:r>
              <a:rPr sz="1400" b="1" spc="-50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8:</a:t>
            </a:r>
            <a:r>
              <a:rPr sz="1400" b="1" spc="-4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Spider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18600"/>
              </a:lnSpc>
            </a:pPr>
            <a:r>
              <a:rPr sz="1400" spc="-5" dirty="0">
                <a:latin typeface="Courier New"/>
                <a:cs typeface="Courier New"/>
              </a:rPr>
              <a:t>SE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9: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Jigsaw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</a:t>
            </a:r>
            <a:endParaRPr sz="1400">
              <a:latin typeface="Courier New"/>
              <a:cs typeface="Courier New"/>
            </a:endParaRPr>
          </a:p>
          <a:p>
            <a:pPr marL="12700" marR="1918970" algn="just">
              <a:lnSpc>
                <a:spcPct val="119000"/>
              </a:lnSpc>
              <a:spcBef>
                <a:spcPts val="20"/>
              </a:spcBef>
            </a:pPr>
            <a:r>
              <a:rPr sz="1400" spc="-5" dirty="0">
                <a:latin typeface="Courier New"/>
                <a:cs typeface="Courier New"/>
              </a:rPr>
              <a:t>SE  SE  SE  SE</a:t>
            </a:r>
            <a:endParaRPr sz="1400">
              <a:latin typeface="Courier New"/>
              <a:cs typeface="Courier New"/>
            </a:endParaRPr>
          </a:p>
          <a:p>
            <a:pPr marL="12700" marR="1918970" algn="just">
              <a:lnSpc>
                <a:spcPct val="119300"/>
              </a:lnSpc>
              <a:spcBef>
                <a:spcPts val="80"/>
              </a:spcBef>
            </a:pPr>
            <a:r>
              <a:rPr sz="1400" spc="-5" dirty="0">
                <a:latin typeface="Courier New"/>
                <a:cs typeface="Courier New"/>
              </a:rPr>
              <a:t>SE  SE  SE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4767" y="3497579"/>
            <a:ext cx="1195705" cy="20739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spc="-5" dirty="0">
                <a:latin typeface="Courier New"/>
                <a:cs typeface="Courier New"/>
              </a:rPr>
              <a:t>10: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Courier New"/>
                <a:cs typeface="Courier New"/>
              </a:rPr>
              <a:t>11: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400" spc="-5" dirty="0">
                <a:latin typeface="Courier New"/>
                <a:cs typeface="Courier New"/>
              </a:rPr>
              <a:t>12: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spc="-5" dirty="0">
                <a:latin typeface="Courier New"/>
                <a:cs typeface="Courier New"/>
              </a:rPr>
              <a:t>13: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Courier New"/>
                <a:cs typeface="Courier New"/>
              </a:rPr>
              <a:t>14: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spc="-5" dirty="0">
                <a:latin typeface="Courier New"/>
                <a:cs typeface="Courier New"/>
              </a:rPr>
              <a:t>15: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Courier New"/>
                <a:cs typeface="Courier New"/>
              </a:rPr>
              <a:t>16: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spc="-5" dirty="0">
                <a:latin typeface="Courier New"/>
                <a:cs typeface="Courier New"/>
              </a:rPr>
              <a:t>17: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Project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0913" y="3497579"/>
            <a:ext cx="1089025" cy="2073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218440">
              <a:lnSpc>
                <a:spcPct val="119000"/>
              </a:lnSpc>
              <a:spcBef>
                <a:spcPts val="114"/>
              </a:spcBef>
            </a:pPr>
            <a:r>
              <a:rPr sz="1400" spc="-5" dirty="0">
                <a:latin typeface="Courier New"/>
                <a:cs typeface="Courier New"/>
              </a:rPr>
              <a:t>Valhalla  Amber 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Skara 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ZGC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Courier New"/>
                <a:cs typeface="Courier New"/>
              </a:rPr>
              <a:t>Panama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19300"/>
              </a:lnSpc>
              <a:spcBef>
                <a:spcPts val="85"/>
              </a:spcBef>
            </a:pPr>
            <a:r>
              <a:rPr sz="1400" spc="-5" dirty="0">
                <a:latin typeface="Courier New"/>
                <a:cs typeface="Courier New"/>
              </a:rPr>
              <a:t>Loom 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Metropolis  Panama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2.0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1195" y="115315"/>
            <a:ext cx="1887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JLS</a:t>
            </a:r>
            <a:r>
              <a:rPr spc="-45" dirty="0"/>
              <a:t> </a:t>
            </a:r>
            <a:r>
              <a:rPr spc="-5" dirty="0"/>
              <a:t>and</a:t>
            </a:r>
            <a:r>
              <a:rPr spc="-40" dirty="0"/>
              <a:t> </a:t>
            </a:r>
            <a:r>
              <a:rPr spc="-5" dirty="0"/>
              <a:t>JSR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0029" y="1076452"/>
            <a:ext cx="393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behavior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of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programming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891" y="637540"/>
            <a:ext cx="8199120" cy="28816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JLS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stands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Specification.</a:t>
            </a:r>
            <a:endParaRPr sz="1600">
              <a:latin typeface="Courier New"/>
              <a:cs typeface="Courier New"/>
            </a:endParaRPr>
          </a:p>
          <a:p>
            <a:pPr marL="241300" marR="1104900" indent="-228600">
              <a:lnSpc>
                <a:spcPts val="1800"/>
              </a:lnSpc>
              <a:spcBef>
                <a:spcPts val="9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It is a document that defines the syntax, semantics, and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language.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Reference:</a:t>
            </a:r>
            <a:r>
              <a:rPr sz="1600" spc="-60" dirty="0">
                <a:solidFill>
                  <a:srgbClr val="0563C1"/>
                </a:solidFill>
                <a:latin typeface="Courier New"/>
                <a:cs typeface="Courier New"/>
              </a:rPr>
              <a:t> </a:t>
            </a:r>
            <a:r>
              <a:rPr sz="16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</a:rPr>
              <a:t>https://docs.oracle.com/javase/specs/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JSR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stands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Specification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Request.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It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formal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proposal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adding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new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features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or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making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changes</a:t>
            </a:r>
            <a:endParaRPr sz="1600">
              <a:latin typeface="Courier New"/>
              <a:cs typeface="Courier New"/>
            </a:endParaRPr>
          </a:p>
          <a:p>
            <a:pPr marL="241300" marR="5080" indent="-228600">
              <a:lnSpc>
                <a:spcPts val="1680"/>
              </a:lnSpc>
              <a:spcBef>
                <a:spcPts val="11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JSRs are submitted by individuals, organizations, or companies to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(JCP)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review and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approval.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Reference:</a:t>
            </a:r>
            <a:r>
              <a:rPr sz="1600" spc="-60" dirty="0">
                <a:solidFill>
                  <a:srgbClr val="0563C1"/>
                </a:solidFill>
                <a:latin typeface="Courier New"/>
                <a:cs typeface="Courier New"/>
              </a:rPr>
              <a:t> </a:t>
            </a:r>
            <a:r>
              <a:rPr sz="16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</a:rPr>
              <a:t>https://jcp.org/en/jsr/detail?id=336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89537" y="2222500"/>
            <a:ext cx="3203575" cy="73914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platform.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Community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Process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257" y="115315"/>
            <a:ext cx="3682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Editions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dirty="0"/>
              <a:t>Java</a:t>
            </a:r>
            <a:r>
              <a:rPr spc="-25" dirty="0"/>
              <a:t> </a:t>
            </a:r>
            <a:r>
              <a:rPr spc="-5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681663"/>
            <a:ext cx="9963785" cy="144145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600" b="1" dirty="0">
                <a:latin typeface="Courier New"/>
                <a:cs typeface="Courier New"/>
              </a:rPr>
              <a:t>Java</a:t>
            </a:r>
            <a:r>
              <a:rPr sz="1600" b="1" spc="-6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SE</a:t>
            </a:r>
            <a:endParaRPr sz="16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Standard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Edition(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also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called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Core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Java)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designed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developing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running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desktop,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server,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standalone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applications.</a:t>
            </a:r>
            <a:endParaRPr sz="1400">
              <a:latin typeface="Courier New"/>
              <a:cs typeface="Courier New"/>
            </a:endParaRPr>
          </a:p>
          <a:p>
            <a:pPr marL="698500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includes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core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API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provides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foundation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building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applications.</a:t>
            </a:r>
            <a:endParaRPr sz="14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600" b="1" dirty="0">
                <a:latin typeface="Courier New"/>
                <a:cs typeface="Courier New"/>
              </a:rPr>
              <a:t>Java</a:t>
            </a:r>
            <a:r>
              <a:rPr sz="1600" b="1" spc="-6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EE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091" y="2092452"/>
            <a:ext cx="9081135" cy="8001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Enterprise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Edition(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also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called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Web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/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Advanced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/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Enterprise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designed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building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web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web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services.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includes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Servlet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API,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Server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Pages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(JSP),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Enterprise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JavaBeans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2695" y="2653284"/>
            <a:ext cx="6635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(EJB).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3891" y="2957067"/>
            <a:ext cx="1338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600" b="1" dirty="0">
                <a:latin typeface="Courier New"/>
                <a:cs typeface="Courier New"/>
              </a:rPr>
              <a:t>3.	Java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ME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3653" y="3503676"/>
            <a:ext cx="6635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mobile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091" y="3211067"/>
            <a:ext cx="9506585" cy="9766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Micro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Edition.</a:t>
            </a:r>
            <a:endParaRPr sz="1400">
              <a:latin typeface="Courier New"/>
              <a:cs typeface="Courier New"/>
            </a:endParaRPr>
          </a:p>
          <a:p>
            <a:pPr marL="240665" marR="429259" indent="-228600">
              <a:lnSpc>
                <a:spcPts val="1490"/>
              </a:lnSpc>
              <a:spcBef>
                <a:spcPts val="5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It is designed for developing applications for resource-constrained devices such as </a:t>
            </a:r>
            <a:r>
              <a:rPr sz="1400" spc="-8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PDAs,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other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embedded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systems.</a:t>
            </a:r>
            <a:endParaRPr sz="1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includes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subset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of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APIs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provides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smaller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footprint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than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58069" y="3503676"/>
            <a:ext cx="770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phones,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891" y="4264660"/>
            <a:ext cx="15830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600" b="1" dirty="0">
                <a:latin typeface="Courier New"/>
                <a:cs typeface="Courier New"/>
              </a:rPr>
              <a:t>4.	Java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Card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091" y="4518659"/>
            <a:ext cx="3125470" cy="7239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is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designed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building</a:t>
            </a:r>
            <a:endParaRPr sz="1400">
              <a:latin typeface="Courier New"/>
              <a:cs typeface="Courier New"/>
            </a:endParaRPr>
          </a:p>
          <a:p>
            <a:pPr marL="240665" marR="5080" indent="-228600">
              <a:lnSpc>
                <a:spcPts val="151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includes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subset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of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the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card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applications.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7371" y="4518659"/>
            <a:ext cx="7576184" cy="5314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spc="-5" dirty="0">
                <a:latin typeface="Courier New"/>
                <a:cs typeface="Courier New"/>
              </a:rPr>
              <a:t>smart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card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applications.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APIs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provides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security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and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cryptographic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features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smart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1820" y="82296"/>
            <a:ext cx="458660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" dirty="0"/>
              <a:t>Software</a:t>
            </a:r>
            <a:r>
              <a:rPr sz="2900" spc="-35" dirty="0"/>
              <a:t> </a:t>
            </a:r>
            <a:r>
              <a:rPr sz="2900" spc="-5" dirty="0"/>
              <a:t>Development</a:t>
            </a:r>
            <a:r>
              <a:rPr sz="2900" spc="-35" dirty="0"/>
              <a:t> </a:t>
            </a:r>
            <a:r>
              <a:rPr sz="2900" spc="-5" dirty="0"/>
              <a:t>Kit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293891" y="637540"/>
            <a:ext cx="10888345" cy="7086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SDK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Development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Tools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+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Documentation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+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Supporting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Libraries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+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Execution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Environment.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b="1" dirty="0">
                <a:latin typeface="Courier New"/>
                <a:cs typeface="Courier New"/>
              </a:rPr>
              <a:t>JDK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Java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Development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Tools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+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Java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Docs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+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rt.jar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+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Java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Virtual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Machine.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791" y="1330452"/>
            <a:ext cx="7579359" cy="10407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27965" indent="-2279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27965" algn="l"/>
                <a:tab pos="228600" algn="l"/>
                <a:tab pos="5971540" algn="l"/>
              </a:tabLst>
            </a:pPr>
            <a:r>
              <a:rPr sz="1400" spc="-5" dirty="0">
                <a:latin typeface="Courier New"/>
                <a:cs typeface="Courier New"/>
              </a:rPr>
              <a:t>Java Development Tools: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javac, java,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javap, javadoc,	etc.</a:t>
            </a:r>
            <a:endParaRPr sz="1400">
              <a:latin typeface="Courier New"/>
              <a:cs typeface="Courier New"/>
            </a:endParaRPr>
          </a:p>
          <a:p>
            <a:pPr marL="227965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27965" algn="l"/>
                <a:tab pos="228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Docs: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HTML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pages,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which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contains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help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of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Core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API</a:t>
            </a:r>
            <a:endParaRPr sz="1400">
              <a:latin typeface="Courier New"/>
              <a:cs typeface="Courier New"/>
            </a:endParaRPr>
          </a:p>
          <a:p>
            <a:pPr marL="227965" indent="-2279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27965" algn="l"/>
                <a:tab pos="228600" algn="l"/>
              </a:tabLst>
            </a:pPr>
            <a:r>
              <a:rPr sz="1400" spc="-5" dirty="0">
                <a:latin typeface="Courier New"/>
                <a:cs typeface="Courier New"/>
              </a:rPr>
              <a:t>rt.jar: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contains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core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API</a:t>
            </a:r>
            <a:endParaRPr sz="1400">
              <a:latin typeface="Courier New"/>
              <a:cs typeface="Courier New"/>
            </a:endParaRPr>
          </a:p>
          <a:p>
            <a:pPr marL="227965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27965" algn="l"/>
                <a:tab pos="228600" algn="l"/>
              </a:tabLst>
            </a:pPr>
            <a:r>
              <a:rPr sz="1400" spc="-5" dirty="0">
                <a:latin typeface="Courier New"/>
                <a:cs typeface="Courier New"/>
              </a:rPr>
              <a:t>Java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Virtual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Machine: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abstract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computer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which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manages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execution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3847" y="2132076"/>
            <a:ext cx="1301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of</a:t>
            </a:r>
            <a:r>
              <a:rPr sz="1400" spc="-9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bytecode.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/>
              <a:t>JDK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platform</a:t>
            </a:r>
            <a:r>
              <a:rPr spc="-10" dirty="0"/>
              <a:t> </a:t>
            </a:r>
            <a:r>
              <a:rPr dirty="0"/>
              <a:t>dependent</a:t>
            </a:r>
            <a:r>
              <a:rPr spc="-5" dirty="0"/>
              <a:t> </a:t>
            </a:r>
            <a:r>
              <a:rPr dirty="0"/>
              <a:t>software</a:t>
            </a:r>
            <a:r>
              <a:rPr spc="-10" dirty="0"/>
              <a:t> </a:t>
            </a:r>
            <a:r>
              <a:rPr dirty="0"/>
              <a:t>that</a:t>
            </a:r>
            <a:r>
              <a:rPr spc="-10" dirty="0"/>
              <a:t> </a:t>
            </a:r>
            <a:r>
              <a:rPr dirty="0"/>
              <a:t>we</a:t>
            </a:r>
            <a:r>
              <a:rPr spc="-5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download</a:t>
            </a:r>
            <a:r>
              <a:rPr spc="-5" dirty="0"/>
              <a:t> </a:t>
            </a:r>
            <a:r>
              <a:rPr dirty="0"/>
              <a:t>from</a:t>
            </a:r>
            <a:r>
              <a:rPr spc="-10" dirty="0"/>
              <a:t> </a:t>
            </a:r>
            <a:r>
              <a:rPr dirty="0"/>
              <a:t>oracle</a:t>
            </a:r>
            <a:r>
              <a:rPr spc="-10" dirty="0"/>
              <a:t> </a:t>
            </a:r>
            <a:r>
              <a:rPr dirty="0"/>
              <a:t>site.</a:t>
            </a: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/>
              <a:t>Developer</a:t>
            </a:r>
            <a:r>
              <a:rPr spc="-15" dirty="0"/>
              <a:t> </a:t>
            </a:r>
            <a:r>
              <a:rPr dirty="0"/>
              <a:t>must</a:t>
            </a:r>
            <a:r>
              <a:rPr spc="-15" dirty="0"/>
              <a:t> </a:t>
            </a:r>
            <a:r>
              <a:rPr dirty="0"/>
              <a:t>install</a:t>
            </a:r>
            <a:r>
              <a:rPr spc="-10" dirty="0"/>
              <a:t> </a:t>
            </a:r>
            <a:r>
              <a:rPr dirty="0"/>
              <a:t>JDK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develop</a:t>
            </a:r>
            <a:r>
              <a:rPr spc="-10" dirty="0"/>
              <a:t> </a:t>
            </a:r>
            <a:r>
              <a:rPr dirty="0"/>
              <a:t>Java</a:t>
            </a:r>
            <a:r>
              <a:rPr spc="-15" dirty="0"/>
              <a:t> </a:t>
            </a:r>
            <a:r>
              <a:rPr dirty="0"/>
              <a:t>application.</a:t>
            </a:r>
          </a:p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dirty="0">
                <a:latin typeface="Courier New"/>
                <a:cs typeface="Courier New"/>
              </a:rPr>
              <a:t>JRE</a:t>
            </a:r>
            <a:r>
              <a:rPr b="1" spc="-2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rt.jar</a:t>
            </a:r>
            <a:r>
              <a:rPr b="1" spc="-1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+</a:t>
            </a:r>
            <a:r>
              <a:rPr b="1" spc="-1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Java</a:t>
            </a:r>
            <a:r>
              <a:rPr b="1" spc="-1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Virtual</a:t>
            </a:r>
            <a:r>
              <a:rPr b="1" spc="-1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Machine.</a:t>
            </a: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/>
              <a:t>JRE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platform</a:t>
            </a:r>
            <a:r>
              <a:rPr spc="-10" dirty="0"/>
              <a:t> </a:t>
            </a:r>
            <a:r>
              <a:rPr dirty="0"/>
              <a:t>dependent</a:t>
            </a:r>
            <a:r>
              <a:rPr spc="-5" dirty="0"/>
              <a:t> </a:t>
            </a:r>
            <a:r>
              <a:rPr dirty="0"/>
              <a:t>software</a:t>
            </a:r>
            <a:r>
              <a:rPr spc="-10" dirty="0"/>
              <a:t> </a:t>
            </a:r>
            <a:r>
              <a:rPr dirty="0"/>
              <a:t>that</a:t>
            </a:r>
            <a:r>
              <a:rPr spc="-10" dirty="0"/>
              <a:t> </a:t>
            </a:r>
            <a:r>
              <a:rPr dirty="0"/>
              <a:t>we</a:t>
            </a:r>
            <a:r>
              <a:rPr spc="-10" dirty="0"/>
              <a:t> </a:t>
            </a:r>
            <a:r>
              <a:rPr dirty="0"/>
              <a:t>can</a:t>
            </a:r>
            <a:r>
              <a:rPr spc="-5" dirty="0"/>
              <a:t> </a:t>
            </a:r>
            <a:r>
              <a:rPr dirty="0"/>
              <a:t>download</a:t>
            </a:r>
            <a:r>
              <a:rPr spc="-10" dirty="0"/>
              <a:t> </a:t>
            </a:r>
            <a:r>
              <a:rPr dirty="0"/>
              <a:t>from</a:t>
            </a:r>
            <a:r>
              <a:rPr spc="-10" dirty="0"/>
              <a:t> </a:t>
            </a:r>
            <a:r>
              <a:rPr dirty="0"/>
              <a:t>oracle</a:t>
            </a:r>
            <a:r>
              <a:rPr spc="-10" dirty="0"/>
              <a:t> </a:t>
            </a:r>
            <a:r>
              <a:rPr dirty="0"/>
              <a:t>site.</a:t>
            </a: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/>
              <a:t>To</a:t>
            </a:r>
            <a:r>
              <a:rPr spc="-10" dirty="0"/>
              <a:t> </a:t>
            </a:r>
            <a:r>
              <a:rPr dirty="0"/>
              <a:t>run</a:t>
            </a:r>
            <a:r>
              <a:rPr spc="-10" dirty="0"/>
              <a:t> </a:t>
            </a:r>
            <a:r>
              <a:rPr dirty="0"/>
              <a:t>Java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Client’s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</a:t>
            </a:r>
            <a:r>
              <a:rPr dirty="0"/>
              <a:t>we</a:t>
            </a:r>
            <a:r>
              <a:rPr spc="-10" dirty="0"/>
              <a:t> </a:t>
            </a:r>
            <a:r>
              <a:rPr dirty="0"/>
              <a:t>must</a:t>
            </a:r>
            <a:r>
              <a:rPr spc="-10" dirty="0"/>
              <a:t> </a:t>
            </a:r>
            <a:r>
              <a:rPr dirty="0"/>
              <a:t>install/deploy</a:t>
            </a:r>
            <a:r>
              <a:rPr spc="-5" dirty="0"/>
              <a:t> </a:t>
            </a:r>
            <a:r>
              <a:rPr dirty="0"/>
              <a:t>JRE.</a:t>
            </a: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dirty="0">
                <a:latin typeface="Courier New"/>
                <a:cs typeface="Courier New"/>
              </a:rPr>
              <a:t>JVM</a:t>
            </a:r>
            <a:r>
              <a:rPr b="1" spc="-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2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Java</a:t>
            </a:r>
            <a:r>
              <a:rPr b="1" spc="-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Virtual</a:t>
            </a:r>
            <a:r>
              <a:rPr b="1" spc="-2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Machine</a:t>
            </a:r>
          </a:p>
          <a:p>
            <a:pPr marL="241300" indent="-2286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JVM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responsible</a:t>
            </a:r>
            <a:r>
              <a:rPr spc="-1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interpreting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bytecode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translating</a:t>
            </a:r>
            <a:r>
              <a:rPr spc="-10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into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4075" y="4532884"/>
            <a:ext cx="14922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machine</a:t>
            </a:r>
            <a:r>
              <a:rPr sz="1600" spc="-9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code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891" y="4749292"/>
            <a:ext cx="11499215" cy="83946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080">
              <a:lnSpc>
                <a:spcPts val="1680"/>
              </a:lnSpc>
              <a:spcBef>
                <a:spcPts val="355"/>
              </a:spcBef>
            </a:pPr>
            <a:r>
              <a:rPr sz="1600" dirty="0">
                <a:latin typeface="Courier New"/>
                <a:cs typeface="Courier New"/>
              </a:rPr>
              <a:t>that can be executed by the underlying operating system. It also provides memory management,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security,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and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other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runtime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services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necessary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for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executing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applications.</a:t>
            </a:r>
            <a:endParaRPr sz="16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Reference:</a:t>
            </a:r>
            <a:r>
              <a:rPr sz="1600" spc="-60" dirty="0">
                <a:solidFill>
                  <a:srgbClr val="0563C1"/>
                </a:solidFill>
                <a:latin typeface="Courier New"/>
                <a:cs typeface="Courier New"/>
              </a:rPr>
              <a:t> </a:t>
            </a:r>
            <a:r>
              <a:rPr sz="16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  <a:hlinkClick r:id="rId2"/>
              </a:rPr>
              <a:t>https://www.oracle.com/in/java/technologies/downloads/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3264" y="115315"/>
            <a:ext cx="4341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Components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Java</a:t>
            </a:r>
            <a:r>
              <a:rPr spc="-20" dirty="0"/>
              <a:t> </a:t>
            </a:r>
            <a:r>
              <a:rPr spc="-5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91" y="735076"/>
            <a:ext cx="47771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Java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platform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has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two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components: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091" y="969771"/>
            <a:ext cx="4394200" cy="6045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i="1" dirty="0">
                <a:latin typeface="Courier New"/>
                <a:cs typeface="Courier New"/>
              </a:rPr>
              <a:t>Java</a:t>
            </a:r>
            <a:r>
              <a:rPr sz="1600" i="1" spc="-30" dirty="0">
                <a:latin typeface="Courier New"/>
                <a:cs typeface="Courier New"/>
              </a:rPr>
              <a:t> </a:t>
            </a:r>
            <a:r>
              <a:rPr sz="1600" i="1" dirty="0">
                <a:latin typeface="Courier New"/>
                <a:cs typeface="Courier New"/>
              </a:rPr>
              <a:t>Virtual</a:t>
            </a:r>
            <a:r>
              <a:rPr sz="1600" i="1" spc="-25" dirty="0">
                <a:latin typeface="Courier New"/>
                <a:cs typeface="Courier New"/>
              </a:rPr>
              <a:t> </a:t>
            </a:r>
            <a:r>
              <a:rPr sz="1600" i="1" dirty="0">
                <a:latin typeface="Courier New"/>
                <a:cs typeface="Courier New"/>
              </a:rPr>
              <a:t>Machine</a:t>
            </a:r>
            <a:endParaRPr sz="1600">
              <a:latin typeface="Courier New"/>
              <a:cs typeface="Courier New"/>
            </a:endParaRPr>
          </a:p>
          <a:p>
            <a:pPr marL="469900" indent="-45720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600" dirty="0">
                <a:latin typeface="Courier New"/>
                <a:cs typeface="Courier New"/>
              </a:rPr>
              <a:t>The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i="1" dirty="0">
                <a:latin typeface="Courier New"/>
                <a:cs typeface="Courier New"/>
              </a:rPr>
              <a:t>Java</a:t>
            </a:r>
            <a:r>
              <a:rPr sz="1600" i="1" spc="-30" dirty="0">
                <a:latin typeface="Courier New"/>
                <a:cs typeface="Courier New"/>
              </a:rPr>
              <a:t> </a:t>
            </a:r>
            <a:r>
              <a:rPr sz="1600" i="1" dirty="0">
                <a:latin typeface="Courier New"/>
                <a:cs typeface="Courier New"/>
              </a:rPr>
              <a:t>Application</a:t>
            </a:r>
            <a:r>
              <a:rPr sz="1600" i="1" spc="-30" dirty="0">
                <a:latin typeface="Courier New"/>
                <a:cs typeface="Courier New"/>
              </a:rPr>
              <a:t> </a:t>
            </a:r>
            <a:r>
              <a:rPr sz="1600" i="1" dirty="0">
                <a:latin typeface="Courier New"/>
                <a:cs typeface="Courier New"/>
              </a:rPr>
              <a:t>Programming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41834" y="1305052"/>
            <a:ext cx="11258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Courier New"/>
                <a:cs typeface="Courier New"/>
              </a:rPr>
              <a:t>Interface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4504" y="1305052"/>
            <a:ext cx="636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(API)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891" y="3719067"/>
            <a:ext cx="104006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600" dirty="0">
                <a:latin typeface="Courier New"/>
                <a:cs typeface="Courier New"/>
              </a:rPr>
              <a:t>Reference:</a:t>
            </a:r>
            <a:r>
              <a:rPr sz="1600" spc="-75" dirty="0">
                <a:solidFill>
                  <a:srgbClr val="0563C1"/>
                </a:solidFill>
                <a:latin typeface="Courier New"/>
                <a:cs typeface="Courier New"/>
              </a:rPr>
              <a:t> </a:t>
            </a:r>
            <a:r>
              <a:rPr sz="16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cs typeface="Courier New"/>
              </a:rPr>
              <a:t>https://docs.oracle.com/javase/tutorial/getStarted/intro/definition.html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2862" y="1993915"/>
            <a:ext cx="3086100" cy="139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Application</a:t>
            </a:r>
            <a:r>
              <a:rPr spc="-15" dirty="0"/>
              <a:t> </a:t>
            </a:r>
            <a:r>
              <a:rPr spc="-5" dirty="0"/>
              <a:t>Programming</a:t>
            </a:r>
            <a:r>
              <a:rPr spc="-10" dirty="0"/>
              <a:t> </a:t>
            </a:r>
            <a:r>
              <a:rPr spc="-5" dirty="0"/>
              <a:t>Interface</a:t>
            </a:r>
          </a:p>
        </p:txBody>
      </p:sp>
      <p:sp>
        <p:nvSpPr>
          <p:cNvPr id="2050" name="AutoShape 2" descr="https://miro.medium.com/v2/resize:fit:1400/format:webp/1*7yAihbfGrMCzjUzIF2UitA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 l="4375" t="12222" r="5000" b="11111"/>
          <a:stretch>
            <a:fillRect/>
          </a:stretch>
        </p:blipFill>
        <p:spPr bwMode="auto">
          <a:xfrm>
            <a:off x="533400" y="838200"/>
            <a:ext cx="11049000" cy="5257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What is next?</a:t>
            </a:r>
            <a:endParaRPr spc="-5" dirty="0"/>
          </a:p>
        </p:txBody>
      </p:sp>
      <p:sp>
        <p:nvSpPr>
          <p:cNvPr id="2050" name="AutoShape 2" descr="https://miro.medium.com/v2/resize:fit:1400/format:webp/1*7yAihbfGrMCzjUzIF2UitA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838200"/>
            <a:ext cx="769620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main method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meaning of "System.out.println“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print, println and printf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Java Comments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Primitve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&amp; Non Primitive types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Initialization and Assignment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Narrowing &amp; Widening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wrapper class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Boxing &amp;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Unboxing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NumberFormatException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Commandline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arguments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Assignment to do:</a:t>
            </a:r>
          </a:p>
          <a:p>
            <a:pPr marL="355600" indent="-342900">
              <a:lnSpc>
                <a:spcPct val="150000"/>
              </a:lnSpc>
              <a:spcBef>
                <a:spcPts val="114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- Assignment 1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Packages in Java</a:t>
            </a:r>
            <a:endParaRPr spc="-5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93891" y="990600"/>
            <a:ext cx="11593309" cy="5011628"/>
          </a:xfrm>
        </p:spPr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spc="-4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Packages can contains:</a:t>
            </a:r>
          </a:p>
          <a:p>
            <a:pPr marL="737235" marR="2015489" lvl="0" indent="-342900" algn="l" defTabSz="914400" rtl="0" eaLnBrk="1" fontAlgn="auto" latinLnBrk="0" hangingPunct="1">
              <a:spcBef>
                <a:spcPts val="1085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kern="1200" spc="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</a:t>
            </a:r>
            <a:r>
              <a:rPr lang="en-US" kern="1200" spc="-5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ka</a:t>
            </a:r>
            <a:r>
              <a:rPr lang="en-US" kern="1200" spc="-1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  </a:t>
            </a:r>
          </a:p>
          <a:p>
            <a:pPr marL="737235" marR="2015489" lvl="0" indent="-342900" algn="l" defTabSz="914400" rtl="0" eaLnBrk="1" fontAlgn="auto" latinLnBrk="0" hangingPunct="1">
              <a:spcBef>
                <a:spcPts val="1085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Interface</a:t>
            </a:r>
            <a:endParaRPr lang="en-US" kern="1200" dirty="0" smtClean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775335" marR="133604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kern="1200" spc="-4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	N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15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5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15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7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  </a:t>
            </a:r>
          </a:p>
          <a:p>
            <a:pPr marL="775335" marR="133604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kern="1200" spc="-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kern="1200" spc="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kern="1200" spc="-114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kern="1200" spc="-1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kern="1200" spc="3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  </a:t>
            </a:r>
          </a:p>
          <a:p>
            <a:pPr marL="775335" marR="133604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kern="1200" spc="3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kern="1200" spc="-5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kern="1200" spc="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14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5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114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9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od</a:t>
            </a:r>
            <a:r>
              <a:rPr lang="en-US" kern="1200" spc="3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  </a:t>
            </a:r>
          </a:p>
          <a:p>
            <a:pPr marL="775335" marR="133604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kern="1200" spc="3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kern="1200" spc="-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</a:t>
            </a:r>
            <a:r>
              <a:rPr lang="en-US" kern="1200" spc="-114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9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od</a:t>
            </a:r>
            <a:r>
              <a:rPr lang="en-US" kern="1200" spc="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endParaRPr lang="en-US" kern="1200" dirty="0" smtClean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775335" marR="0" lvl="0" indent="0" algn="l" defTabSz="914400" rtl="0" eaLnBrk="1" fontAlgn="auto" latinLnBrk="0" hangingPunct="1">
              <a:spcBef>
                <a:spcPts val="15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kern="1200" spc="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	S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kern="1200" spc="-3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9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kern="1200" spc="-15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lang="en-US" kern="1200" spc="-1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9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od</a:t>
            </a:r>
            <a:r>
              <a:rPr lang="en-US" kern="1200" spc="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endParaRPr lang="en-US" kern="1200" dirty="0" smtClean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394335" marR="0" lvl="0" indent="0" algn="l" defTabSz="914400" rtl="0" eaLnBrk="1" fontAlgn="auto" latinLnBrk="0" hangingPunct="1"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spc="-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3. Class</a:t>
            </a:r>
            <a:endParaRPr lang="en-US" kern="1200" dirty="0" smtClean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775335" marR="508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spc="-4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15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5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15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7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1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9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kern="1200" spc="-15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lang="en-US" kern="1200" spc="-1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3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</a:t>
            </a:r>
            <a:r>
              <a:rPr lang="en-US" kern="1200" spc="-10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kern="1200" spc="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3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7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nu</a:t>
            </a:r>
            <a:r>
              <a:rPr lang="en-US" kern="1200" spc="-1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kern="1200" spc="-5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pPr marL="775335" marR="508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Fields</a:t>
            </a:r>
            <a:endParaRPr lang="en-US" kern="1200" dirty="0" smtClean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775335" marR="169672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spc="-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kern="1200" spc="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14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</a:t>
            </a:r>
            <a:r>
              <a:rPr lang="en-US" kern="1200" spc="-5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15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kern="1200" spc="-7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  </a:t>
            </a:r>
          </a:p>
          <a:p>
            <a:pPr marL="775335" marR="169672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Method</a:t>
            </a:r>
            <a:endParaRPr lang="en-US" kern="1200" dirty="0" smtClean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394335" marR="2206625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spc="-10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4. Enum </a:t>
            </a:r>
            <a:r>
              <a:rPr lang="en-US" kern="1200" spc="-9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394335" marR="2206625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200" spc="-7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5. E</a:t>
            </a:r>
            <a:r>
              <a:rPr lang="en-US" kern="1200" spc="-13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kern="1200" spc="-6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kern="1200" spc="-11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kern="1200" spc="-8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kern="1200" spc="-14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kern="1200" spc="-12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kern="1200" spc="-80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kern="1200" spc="-75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</a:p>
          <a:p>
            <a:pPr marL="394335" marR="2206625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6. Error  </a:t>
            </a:r>
          </a:p>
          <a:p>
            <a:pPr marL="394335" marR="2206625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7. Annotation Type</a:t>
            </a:r>
          </a:p>
          <a:p>
            <a:pPr marL="394335" marR="2206625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50" name="AutoShape 2" descr="https://miro.medium.com/v2/resize:fit:1400/format:webp/1*7yAihbfGrMCzjUzIF2UitA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6082" y="115315"/>
            <a:ext cx="5119835" cy="369332"/>
          </a:xfrm>
        </p:spPr>
        <p:txBody>
          <a:bodyPr/>
          <a:lstStyle/>
          <a:p>
            <a:pPr algn="ctr"/>
            <a:r>
              <a:rPr lang="en-US" dirty="0" smtClean="0"/>
              <a:t>Modifiers in Java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11288509" cy="5416868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PUBLIC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PRIVATE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PROTECTED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STATIC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FINAL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SYNCHRONIZED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VOLATILE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TRANSIENT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NATIVE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INTERFACE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ABSTRACT 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STRICT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Reference: https://docs.oracle.com/javase/8/docs/api/java/lang/reflect/Modifier.html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6082" y="115315"/>
            <a:ext cx="5119835" cy="369332"/>
          </a:xfrm>
        </p:spPr>
        <p:txBody>
          <a:bodyPr/>
          <a:lstStyle/>
          <a:p>
            <a:pPr algn="ctr"/>
            <a:r>
              <a:rPr lang="en-US" dirty="0" smtClean="0"/>
              <a:t>Main Method &amp; Modifiers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11288509" cy="5909310"/>
          </a:xfrm>
        </p:spPr>
        <p:txBody>
          <a:bodyPr/>
          <a:lstStyle/>
          <a:p>
            <a:pPr lvl="0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Access Modifiers: Modifiers which are used to control visibility of members of the class is called access modifier.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private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Package level private( also called as default )  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protected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</a:t>
            </a:r>
          </a:p>
          <a:p>
            <a:pPr lvl="0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In java, main method is considered as entry point method.  With the help of main thread, JVM invoke main method.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Syntax: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 )  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)  </a:t>
            </a:r>
          </a:p>
          <a:p>
            <a:pPr lvl="1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 static void main(String...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 lvl="0" algn="l" rtl="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We can define main method inside class as well as interface.</a:t>
            </a:r>
          </a:p>
          <a:p>
            <a:pPr lvl="0" algn="l" rtl="0">
              <a:lnSpc>
                <a:spcPct val="150000"/>
              </a:lnSpc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Reference: https://docs.oracle.com/javase/tutorial/getStarted/application/index.html</a:t>
            </a:r>
          </a:p>
          <a:p>
            <a:pPr lvl="0" algn="l" rtl="0">
              <a:lnSpc>
                <a:spcPct val="150000"/>
              </a:lnSpc>
              <a:buFont typeface="Arial" pitchFamily="34" charset="0"/>
              <a:buChar char="•"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15315"/>
            <a:ext cx="11430000" cy="404663"/>
          </a:xfrm>
        </p:spPr>
        <p:txBody>
          <a:bodyPr/>
          <a:lstStyle/>
          <a:p>
            <a:pPr lvl="0" rtl="0">
              <a:lnSpc>
                <a:spcPct val="150000"/>
              </a:lnSpc>
            </a:pPr>
            <a:r>
              <a:rPr lang="en-US" sz="2000" dirty="0" smtClean="0"/>
              <a:t>Writing and Executing a Simple Java Program Writing and Executing a Simple Java Program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11288509" cy="1846659"/>
          </a:xfrm>
        </p:spPr>
        <p:txBody>
          <a:bodyPr/>
          <a:lstStyle/>
          <a:p>
            <a:pPr lvl="0" algn="l" rtl="0">
              <a:lnSpc>
                <a:spcPct val="150000"/>
              </a:lnSpc>
            </a:pPr>
            <a:r>
              <a:rPr lang="en-US" dirty="0" smtClean="0"/>
              <a:t>1. Create a class </a:t>
            </a:r>
          </a:p>
          <a:p>
            <a:pPr lvl="0" algn="l" rtl="0">
              <a:lnSpc>
                <a:spcPct val="150000"/>
              </a:lnSpc>
            </a:pPr>
            <a:r>
              <a:rPr lang="en-US" dirty="0" smtClean="0"/>
              <a:t>2. Write main method inside class </a:t>
            </a:r>
          </a:p>
          <a:p>
            <a:pPr lvl="0" algn="l" rtl="0">
              <a:lnSpc>
                <a:spcPct val="150000"/>
              </a:lnSpc>
            </a:pPr>
            <a:r>
              <a:rPr lang="en-US" dirty="0" smtClean="0"/>
              <a:t>3. Write logic </a:t>
            </a:r>
          </a:p>
          <a:p>
            <a:pPr lvl="0" algn="l" rtl="0">
              <a:lnSpc>
                <a:spcPct val="150000"/>
              </a:lnSpc>
            </a:pPr>
            <a:r>
              <a:rPr lang="en-US" dirty="0" smtClean="0"/>
              <a:t>4. Compile using '</a:t>
            </a:r>
            <a:r>
              <a:rPr lang="en-US" dirty="0" err="1" smtClean="0"/>
              <a:t>javac</a:t>
            </a:r>
            <a:r>
              <a:rPr lang="en-US" dirty="0" smtClean="0"/>
              <a:t>' </a:t>
            </a:r>
          </a:p>
          <a:p>
            <a:pPr lvl="0" algn="l" rtl="0">
              <a:lnSpc>
                <a:spcPct val="150000"/>
              </a:lnSpc>
            </a:pPr>
            <a:r>
              <a:rPr lang="en-US" dirty="0" smtClean="0"/>
              <a:t>5. Execute using 'java'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1836</Words>
  <Application>Microsoft Office PowerPoint</Application>
  <PresentationFormat>Custom</PresentationFormat>
  <Paragraphs>371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Object Oriented Programming Using Java 1.8 (Spider)</vt:lpstr>
      <vt:lpstr>Evaluation Strategy</vt:lpstr>
      <vt:lpstr>Contents</vt:lpstr>
      <vt:lpstr>Classification of Programming Languages</vt:lpstr>
      <vt:lpstr>“Hello World” Application using Machine Language</vt:lpstr>
      <vt:lpstr>“Hello World” Application using Low Level Language</vt:lpstr>
      <vt:lpstr>Advantages and Limitations of Low Level Language</vt:lpstr>
      <vt:lpstr>“Hello World” Application using High Level Language</vt:lpstr>
      <vt:lpstr>What is Language?</vt:lpstr>
      <vt:lpstr>What is Technology?</vt:lpstr>
      <vt:lpstr>What is Platform?</vt:lpstr>
      <vt:lpstr>History of Java Programming Language</vt:lpstr>
      <vt:lpstr>Java Version History  (https://en.wikipedia.org/wiki/Java_version_history)</vt:lpstr>
      <vt:lpstr>Java Code Names</vt:lpstr>
      <vt:lpstr>JLS and JSR</vt:lpstr>
      <vt:lpstr>Editions of Java Platform</vt:lpstr>
      <vt:lpstr>Software Development Kit</vt:lpstr>
      <vt:lpstr>Components of Java Platform</vt:lpstr>
      <vt:lpstr>Application Programming Interface</vt:lpstr>
      <vt:lpstr>What is next?</vt:lpstr>
      <vt:lpstr>Packages in Java</vt:lpstr>
      <vt:lpstr>Modifiers in Java</vt:lpstr>
      <vt:lpstr>Main Method &amp; Modifiers</vt:lpstr>
      <vt:lpstr>Writing and Executing a Simple Java Program Writing and Executing a Simple Java Program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Day_1</dc:title>
  <cp:lastModifiedBy>HP</cp:lastModifiedBy>
  <cp:revision>15</cp:revision>
  <dcterms:created xsi:type="dcterms:W3CDTF">2023-04-26T10:46:38Z</dcterms:created>
  <dcterms:modified xsi:type="dcterms:W3CDTF">2025-03-07T07:44:26Z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2023-04-26T00:00:00Z</vt:filetime>
  </property>
</Properties>
</file>